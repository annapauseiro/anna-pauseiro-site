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Calibri (MS) Bold" charset="1" panose="020F0702030404030204"/>
      <p:regular r:id="rId12"/>
    </p:embeddedFont>
    <p:embeddedFont>
      <p:font typeface="Calibri (MS)" charset="1" panose="020F0502020204030204"/>
      <p:regular r:id="rId13"/>
    </p:embeddedFont>
    <p:embeddedFont>
      <p:font typeface="Courier New" charset="1" panose="02070309020205020404"/>
      <p:regular r:id="rId14"/>
    </p:embeddedFont>
    <p:embeddedFont>
      <p:font typeface="Courier New Italics" charset="1" panose="02070409020205090404"/>
      <p:regular r:id="rId15"/>
    </p:embeddedFont>
    <p:embeddedFont>
      <p:font typeface="Calibri (MS) Italics" charset="1" panose="020F05020202040A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1511808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PROJECT · DATA ANALYTICS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1970913"/>
            <a:ext cx="8193024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26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Data Analytics</a:t>
            </a:r>
          </a:p>
          <a:p>
            <a:pPr algn="l">
              <a:lnSpc>
                <a:spcPts val="4480"/>
              </a:lnSpc>
            </a:pPr>
            <a:r>
              <a:rPr lang="en-US" sz="426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448" y="3669411"/>
            <a:ext cx="7705344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1599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A SQL analytics portfolio project that turns raw sales data into business insight — from </a:t>
            </a:r>
            <a:r>
              <a:rPr lang="en-US" sz="1599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exploratory analysis</a:t>
            </a:r>
            <a:r>
              <a:rPr lang="en-US" sz="1599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 to KPIs, segmentation and reusable </a:t>
            </a:r>
            <a:r>
              <a:rPr lang="en-US" sz="1599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</a:t>
            </a:r>
            <a:r>
              <a:rPr lang="en-US" sz="1599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1371" y="5018027"/>
            <a:ext cx="1521971" cy="400307"/>
            <a:chOff x="0" y="0"/>
            <a:chExt cx="2029295" cy="5337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9206" cy="533654"/>
            </a:xfrm>
            <a:custGeom>
              <a:avLst/>
              <a:gdLst/>
              <a:ahLst/>
              <a:cxnLst/>
              <a:rect r="r" b="b" t="t" l="l"/>
              <a:pathLst>
                <a:path h="533654" w="2029206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1762379" y="0"/>
                  </a:lnTo>
                  <a:cubicBezTo>
                    <a:pt x="1909826" y="0"/>
                    <a:pt x="2029206" y="119507"/>
                    <a:pt x="2029206" y="266827"/>
                  </a:cubicBezTo>
                  <a:cubicBezTo>
                    <a:pt x="2029206" y="414147"/>
                    <a:pt x="1909699" y="533654"/>
                    <a:pt x="1762379" y="533654"/>
                  </a:cubicBezTo>
                  <a:lnTo>
                    <a:pt x="266827" y="533654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36448" y="5023104"/>
            <a:ext cx="1511808" cy="390144"/>
            <a:chOff x="0" y="0"/>
            <a:chExt cx="2015744" cy="5201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5744" cy="520192"/>
            </a:xfrm>
            <a:custGeom>
              <a:avLst/>
              <a:gdLst/>
              <a:ahLst/>
              <a:cxnLst/>
              <a:rect r="r" b="b" t="t" l="l"/>
              <a:pathLst>
                <a:path h="520192" w="2015744">
                  <a:moveTo>
                    <a:pt x="0" y="0"/>
                  </a:moveTo>
                  <a:lnTo>
                    <a:pt x="2015744" y="0"/>
                  </a:lnTo>
                  <a:lnTo>
                    <a:pt x="2015744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015744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SERVER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89483" y="5018027"/>
            <a:ext cx="985523" cy="400307"/>
            <a:chOff x="0" y="0"/>
            <a:chExt cx="1314031" cy="5337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3942" cy="533781"/>
            </a:xfrm>
            <a:custGeom>
              <a:avLst/>
              <a:gdLst/>
              <a:ahLst/>
              <a:cxnLst/>
              <a:rect r="r" b="b" t="t" l="l"/>
              <a:pathLst>
                <a:path h="533781" w="1313942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1047115" y="0"/>
                  </a:lnTo>
                  <a:cubicBezTo>
                    <a:pt x="1194562" y="0"/>
                    <a:pt x="1313942" y="119507"/>
                    <a:pt x="1313942" y="266827"/>
                  </a:cubicBezTo>
                  <a:cubicBezTo>
                    <a:pt x="1313942" y="414147"/>
                    <a:pt x="1194562" y="533781"/>
                    <a:pt x="1047115" y="533781"/>
                  </a:cubicBezTo>
                  <a:lnTo>
                    <a:pt x="266827" y="533781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194560" y="5023104"/>
            <a:ext cx="975360" cy="390144"/>
            <a:chOff x="0" y="0"/>
            <a:chExt cx="1300480" cy="520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0480" cy="520192"/>
            </a:xfrm>
            <a:custGeom>
              <a:avLst/>
              <a:gdLst/>
              <a:ahLst/>
              <a:cxnLst/>
              <a:rect r="r" b="b" t="t" l="l"/>
              <a:pathLst>
                <a:path h="520192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00480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311147" y="5018027"/>
            <a:ext cx="2302259" cy="400307"/>
            <a:chOff x="0" y="0"/>
            <a:chExt cx="3069679" cy="5337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69590" cy="533654"/>
            </a:xfrm>
            <a:custGeom>
              <a:avLst/>
              <a:gdLst/>
              <a:ahLst/>
              <a:cxnLst/>
              <a:rect r="r" b="b" t="t" l="l"/>
              <a:pathLst>
                <a:path h="533654" w="3069590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2802763" y="0"/>
                  </a:lnTo>
                  <a:cubicBezTo>
                    <a:pt x="2950210" y="0"/>
                    <a:pt x="3069590" y="119507"/>
                    <a:pt x="3069590" y="266827"/>
                  </a:cubicBezTo>
                  <a:cubicBezTo>
                    <a:pt x="3069590" y="414147"/>
                    <a:pt x="2950083" y="533654"/>
                    <a:pt x="2802763" y="533654"/>
                  </a:cubicBezTo>
                  <a:lnTo>
                    <a:pt x="266827" y="533654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316224" y="5023104"/>
            <a:ext cx="2292096" cy="390144"/>
            <a:chOff x="0" y="0"/>
            <a:chExt cx="3056128" cy="5201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56128" cy="520192"/>
            </a:xfrm>
            <a:custGeom>
              <a:avLst/>
              <a:gdLst/>
              <a:ahLst/>
              <a:cxnLst/>
              <a:rect r="r" b="b" t="t" l="l"/>
              <a:pathLst>
                <a:path h="520192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056128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WINDOW FUNCTIONS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49547" y="5018027"/>
            <a:ext cx="1814579" cy="400307"/>
            <a:chOff x="0" y="0"/>
            <a:chExt cx="2419439" cy="5337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19350" cy="533654"/>
            </a:xfrm>
            <a:custGeom>
              <a:avLst/>
              <a:gdLst/>
              <a:ahLst/>
              <a:cxnLst/>
              <a:rect r="r" b="b" t="t" l="l"/>
              <a:pathLst>
                <a:path h="533654" w="2419350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2152523" y="0"/>
                  </a:lnTo>
                  <a:cubicBezTo>
                    <a:pt x="2299970" y="0"/>
                    <a:pt x="2419350" y="119507"/>
                    <a:pt x="2419350" y="266827"/>
                  </a:cubicBezTo>
                  <a:cubicBezTo>
                    <a:pt x="2419350" y="414147"/>
                    <a:pt x="2299843" y="533654"/>
                    <a:pt x="2152523" y="533654"/>
                  </a:cubicBezTo>
                  <a:lnTo>
                    <a:pt x="266827" y="533654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754624" y="5023104"/>
            <a:ext cx="1804416" cy="390144"/>
            <a:chOff x="0" y="0"/>
            <a:chExt cx="2405888" cy="5201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05888" cy="520192"/>
            </a:xfrm>
            <a:custGeom>
              <a:avLst/>
              <a:gdLst/>
              <a:ahLst/>
              <a:cxnLst/>
              <a:rect r="r" b="b" t="t" l="l"/>
              <a:pathLst>
                <a:path h="520192" w="2405888">
                  <a:moveTo>
                    <a:pt x="0" y="0"/>
                  </a:moveTo>
                  <a:lnTo>
                    <a:pt x="2405888" y="0"/>
                  </a:lnTo>
                  <a:lnTo>
                    <a:pt x="240588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405888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REPORTING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6448" y="6681216"/>
            <a:ext cx="2926080" cy="292608"/>
            <a:chOff x="0" y="0"/>
            <a:chExt cx="3901440" cy="390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1440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90144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"/>
                </a:lnSpc>
              </a:pPr>
              <a:r>
                <a:rPr lang="en-US" sz="128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Anna Pauseiro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86656" y="6681216"/>
            <a:ext cx="4730496" cy="292608"/>
            <a:chOff x="0" y="0"/>
            <a:chExt cx="6307328" cy="390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07328" cy="390144"/>
            </a:xfrm>
            <a:custGeom>
              <a:avLst/>
              <a:gdLst/>
              <a:ahLst/>
              <a:cxnLst/>
              <a:rect r="r" b="b" t="t" l="l"/>
              <a:pathLst>
                <a:path h="390144" w="6307328">
                  <a:moveTo>
                    <a:pt x="0" y="0"/>
                  </a:moveTo>
                  <a:lnTo>
                    <a:pt x="6307328" y="0"/>
                  </a:lnTo>
                  <a:lnTo>
                    <a:pt x="6307328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008" r="0" b="-26500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307328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43"/>
                </a:lnSpc>
              </a:pPr>
              <a:r>
                <a:rPr lang="en-US" sz="1119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github.com/annapauseiro/sql-data-analytics-project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/ 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PROJECT OBJECTIVES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10006"/>
            <a:ext cx="7802880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98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Two goals, one project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896875"/>
            <a:ext cx="4155443" cy="4496819"/>
            <a:chOff x="0" y="0"/>
            <a:chExt cx="5540591" cy="59957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40629" cy="5995797"/>
            </a:xfrm>
            <a:custGeom>
              <a:avLst/>
              <a:gdLst/>
              <a:ahLst/>
              <a:cxnLst/>
              <a:rect r="r" b="b" t="t" l="l"/>
              <a:pathLst>
                <a:path h="5995797" w="5540629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362" y="0"/>
                  </a:lnTo>
                  <a:cubicBezTo>
                    <a:pt x="5493893" y="0"/>
                    <a:pt x="5540629" y="46736"/>
                    <a:pt x="5540629" y="104267"/>
                  </a:cubicBezTo>
                  <a:lnTo>
                    <a:pt x="5540629" y="5891530"/>
                  </a:lnTo>
                  <a:cubicBezTo>
                    <a:pt x="5540629" y="5949061"/>
                    <a:pt x="5493893" y="5995797"/>
                    <a:pt x="5436362" y="5995797"/>
                  </a:cubicBezTo>
                  <a:lnTo>
                    <a:pt x="104267" y="5995797"/>
                  </a:lnTo>
                  <a:cubicBezTo>
                    <a:pt x="46736" y="5995797"/>
                    <a:pt x="0" y="5949061"/>
                    <a:pt x="0" y="589153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72747" y="2238251"/>
            <a:ext cx="2497331" cy="361293"/>
            <a:chOff x="0" y="0"/>
            <a:chExt cx="3329775" cy="481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29813" cy="481838"/>
            </a:xfrm>
            <a:custGeom>
              <a:avLst/>
              <a:gdLst/>
              <a:ahLst/>
              <a:cxnLst/>
              <a:rect r="r" b="b" t="t" l="l"/>
              <a:pathLst>
                <a:path h="481838" w="3329813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3088894" y="0"/>
                  </a:lnTo>
                  <a:cubicBezTo>
                    <a:pt x="3221863" y="0"/>
                    <a:pt x="3329813" y="107823"/>
                    <a:pt x="3329813" y="240919"/>
                  </a:cubicBezTo>
                  <a:cubicBezTo>
                    <a:pt x="3329813" y="374015"/>
                    <a:pt x="3221990" y="481838"/>
                    <a:pt x="3088894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2243328"/>
            <a:ext cx="2487168" cy="351130"/>
            <a:chOff x="0" y="0"/>
            <a:chExt cx="3316224" cy="4681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6224" cy="468173"/>
            </a:xfrm>
            <a:custGeom>
              <a:avLst/>
              <a:gdLst/>
              <a:ahLst/>
              <a:cxnLst/>
              <a:rect r="r" b="b" t="t" l="l"/>
              <a:pathLst>
                <a:path h="468173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316224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EXPLORE THE DATA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7824" y="2828544"/>
            <a:ext cx="3462528" cy="731520"/>
            <a:chOff x="0" y="0"/>
            <a:chExt cx="4616704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16704" cy="975360"/>
            </a:xfrm>
            <a:custGeom>
              <a:avLst/>
              <a:gdLst/>
              <a:ahLst/>
              <a:cxnLst/>
              <a:rect r="r" b="b" t="t" l="l"/>
              <a:pathLst>
                <a:path h="975360" w="4616704">
                  <a:moveTo>
                    <a:pt x="0" y="0"/>
                  </a:moveTo>
                  <a:lnTo>
                    <a:pt x="4616704" y="0"/>
                  </a:lnTo>
                  <a:lnTo>
                    <a:pt x="46167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29" r="0" b="-422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1670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3"/>
                </a:lnSpc>
              </a:pPr>
              <a:r>
                <a:rPr lang="en-US" sz="1813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Understand before you analyze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77824" y="3669411"/>
            <a:ext cx="3462528" cy="242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Explore the underlying datasets, inspect dimensions and date ranges, and calculate core business metrics to build a reliable foundation.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969259" y="1896875"/>
            <a:ext cx="4155443" cy="4496819"/>
            <a:chOff x="0" y="0"/>
            <a:chExt cx="5540591" cy="59957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40629" cy="5995797"/>
            </a:xfrm>
            <a:custGeom>
              <a:avLst/>
              <a:gdLst/>
              <a:ahLst/>
              <a:cxnLst/>
              <a:rect r="r" b="b" t="t" l="l"/>
              <a:pathLst>
                <a:path h="5995797" w="5540629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362" y="0"/>
                  </a:lnTo>
                  <a:cubicBezTo>
                    <a:pt x="5493893" y="0"/>
                    <a:pt x="5540629" y="46736"/>
                    <a:pt x="5540629" y="104267"/>
                  </a:cubicBezTo>
                  <a:lnTo>
                    <a:pt x="5540629" y="5891530"/>
                  </a:lnTo>
                  <a:cubicBezTo>
                    <a:pt x="5540629" y="5949061"/>
                    <a:pt x="5493893" y="5995797"/>
                    <a:pt x="5436362" y="5995797"/>
                  </a:cubicBezTo>
                  <a:lnTo>
                    <a:pt x="104267" y="5995797"/>
                  </a:lnTo>
                  <a:cubicBezTo>
                    <a:pt x="46736" y="5995797"/>
                    <a:pt x="0" y="5949061"/>
                    <a:pt x="0" y="589153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310635" y="2238251"/>
            <a:ext cx="2302259" cy="361293"/>
            <a:chOff x="0" y="0"/>
            <a:chExt cx="3069679" cy="4817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69717" cy="481838"/>
            </a:xfrm>
            <a:custGeom>
              <a:avLst/>
              <a:gdLst/>
              <a:ahLst/>
              <a:cxnLst/>
              <a:rect r="r" b="b" t="t" l="l"/>
              <a:pathLst>
                <a:path h="481838" w="3069717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2828798" y="0"/>
                  </a:lnTo>
                  <a:cubicBezTo>
                    <a:pt x="2961767" y="0"/>
                    <a:pt x="3069717" y="107823"/>
                    <a:pt x="3069717" y="240919"/>
                  </a:cubicBezTo>
                  <a:cubicBezTo>
                    <a:pt x="3069717" y="374015"/>
                    <a:pt x="2961894" y="481838"/>
                    <a:pt x="2828798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315712" y="2243328"/>
            <a:ext cx="2292096" cy="351130"/>
            <a:chOff x="0" y="0"/>
            <a:chExt cx="3056128" cy="468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56128" cy="468173"/>
            </a:xfrm>
            <a:custGeom>
              <a:avLst/>
              <a:gdLst/>
              <a:ahLst/>
              <a:cxnLst/>
              <a:rect r="r" b="b" t="t" l="l"/>
              <a:pathLst>
                <a:path h="468173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94" r="0" b="-7719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056128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 &amp; REPORT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15712" y="2828544"/>
            <a:ext cx="3462528" cy="731520"/>
            <a:chOff x="0" y="0"/>
            <a:chExt cx="4616704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16704" cy="975360"/>
            </a:xfrm>
            <a:custGeom>
              <a:avLst/>
              <a:gdLst/>
              <a:ahLst/>
              <a:cxnLst/>
              <a:rect r="r" b="b" t="t" l="l"/>
              <a:pathLst>
                <a:path h="975360" w="4616704">
                  <a:moveTo>
                    <a:pt x="0" y="0"/>
                  </a:moveTo>
                  <a:lnTo>
                    <a:pt x="4616704" y="0"/>
                  </a:lnTo>
                  <a:lnTo>
                    <a:pt x="46167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29" r="0" b="-4222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61670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3"/>
                </a:lnSpc>
              </a:pPr>
              <a:r>
                <a:rPr lang="en-US" sz="1813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Turn SQL into insight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315712" y="3669411"/>
            <a:ext cx="3462528" cy="242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Track changes over time, rank and segment customers and products, and package the findings into reusable analytical reports.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PROJECT STRUCTURE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10006"/>
            <a:ext cx="8388096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98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two-stage analytical process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994411"/>
            <a:ext cx="2302259" cy="2838707"/>
            <a:chOff x="0" y="0"/>
            <a:chExt cx="3069679" cy="3784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69717" cy="3784981"/>
            </a:xfrm>
            <a:custGeom>
              <a:avLst/>
              <a:gdLst/>
              <a:ahLst/>
              <a:cxnLst/>
              <a:rect r="r" b="b" t="t" l="l"/>
              <a:pathLst>
                <a:path h="3784981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680460"/>
                  </a:lnTo>
                  <a:cubicBezTo>
                    <a:pt x="3069717" y="3738118"/>
                    <a:pt x="3022981" y="3784981"/>
                    <a:pt x="2965196" y="3784981"/>
                  </a:cubicBezTo>
                  <a:lnTo>
                    <a:pt x="104521" y="3784981"/>
                  </a:lnTo>
                  <a:cubicBezTo>
                    <a:pt x="46863" y="3784981"/>
                    <a:pt x="0" y="3738245"/>
                    <a:pt x="0" y="368046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26443" y="2267512"/>
            <a:ext cx="1521971" cy="341786"/>
            <a:chOff x="0" y="0"/>
            <a:chExt cx="2029295" cy="4557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9206" cy="455676"/>
            </a:xfrm>
            <a:custGeom>
              <a:avLst/>
              <a:gdLst/>
              <a:ahLst/>
              <a:cxnLst/>
              <a:rect r="r" b="b" t="t" l="l"/>
              <a:pathLst>
                <a:path h="455676" w="2029206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801368" y="0"/>
                  </a:lnTo>
                  <a:cubicBezTo>
                    <a:pt x="1927225" y="0"/>
                    <a:pt x="2029206" y="101981"/>
                    <a:pt x="2029206" y="227838"/>
                  </a:cubicBezTo>
                  <a:cubicBezTo>
                    <a:pt x="2029206" y="353695"/>
                    <a:pt x="1927225" y="455676"/>
                    <a:pt x="1801368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2272589"/>
            <a:ext cx="1511808" cy="331622"/>
            <a:chOff x="0" y="0"/>
            <a:chExt cx="2015744" cy="4421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5744" cy="442163"/>
            </a:xfrm>
            <a:custGeom>
              <a:avLst/>
              <a:gdLst/>
              <a:ahLst/>
              <a:cxnLst/>
              <a:rect r="r" b="b" t="t" l="l"/>
              <a:pathLst>
                <a:path h="442163" w="2015744">
                  <a:moveTo>
                    <a:pt x="0" y="0"/>
                  </a:moveTo>
                  <a:lnTo>
                    <a:pt x="2015744" y="0"/>
                  </a:lnTo>
                  <a:lnTo>
                    <a:pt x="2015744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28" r="0" b="-3882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15744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2760269"/>
            <a:ext cx="1901952" cy="633984"/>
            <a:chOff x="0" y="0"/>
            <a:chExt cx="2535936" cy="8453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5936" cy="845312"/>
            </a:xfrm>
            <a:custGeom>
              <a:avLst/>
              <a:gdLst/>
              <a:ahLst/>
              <a:cxnLst/>
              <a:rect r="r" b="b" t="t" l="l"/>
              <a:pathLst>
                <a:path h="845312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845312"/>
                  </a:lnTo>
                  <a:lnTo>
                    <a:pt x="0" y="8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35936" cy="892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6"/>
                </a:lnSpc>
              </a:pPr>
              <a:r>
                <a:rPr lang="en-US" sz="1439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Analysis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31520" y="3405378"/>
            <a:ext cx="1901952" cy="122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152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Explore structure, dimensions, date ranges and core measures to understand the data first.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828544" y="3169920"/>
            <a:ext cx="536448" cy="487680"/>
            <a:chOff x="0" y="0"/>
            <a:chExt cx="715264" cy="65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5264" cy="650240"/>
            </a:xfrm>
            <a:custGeom>
              <a:avLst/>
              <a:gdLst/>
              <a:ahLst/>
              <a:cxnLst/>
              <a:rect r="r" b="b" t="t" l="l"/>
              <a:pathLst>
                <a:path h="650240" w="715264">
                  <a:moveTo>
                    <a:pt x="0" y="0"/>
                  </a:moveTo>
                  <a:lnTo>
                    <a:pt x="715264" y="0"/>
                  </a:lnTo>
                  <a:lnTo>
                    <a:pt x="715264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5264" cy="69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9"/>
                </a:lnSpc>
              </a:pPr>
              <a:r>
                <a:rPr lang="en-US" sz="213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359915" y="1994411"/>
            <a:ext cx="2302259" cy="2838707"/>
            <a:chOff x="0" y="0"/>
            <a:chExt cx="3069679" cy="37849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69717" cy="3784981"/>
            </a:xfrm>
            <a:custGeom>
              <a:avLst/>
              <a:gdLst/>
              <a:ahLst/>
              <a:cxnLst/>
              <a:rect r="r" b="b" t="t" l="l"/>
              <a:pathLst>
                <a:path h="3784981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680460"/>
                  </a:lnTo>
                  <a:cubicBezTo>
                    <a:pt x="3069717" y="3738118"/>
                    <a:pt x="3022981" y="3784981"/>
                    <a:pt x="2965196" y="3784981"/>
                  </a:cubicBezTo>
                  <a:lnTo>
                    <a:pt x="104521" y="3784981"/>
                  </a:lnTo>
                  <a:cubicBezTo>
                    <a:pt x="46863" y="3784981"/>
                    <a:pt x="0" y="3738245"/>
                    <a:pt x="0" y="368046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554987" y="2267512"/>
            <a:ext cx="1521971" cy="341786"/>
            <a:chOff x="0" y="0"/>
            <a:chExt cx="2029295" cy="4557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9206" cy="455676"/>
            </a:xfrm>
            <a:custGeom>
              <a:avLst/>
              <a:gdLst/>
              <a:ahLst/>
              <a:cxnLst/>
              <a:rect r="r" b="b" t="t" l="l"/>
              <a:pathLst>
                <a:path h="455676" w="2029206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801368" y="0"/>
                  </a:lnTo>
                  <a:cubicBezTo>
                    <a:pt x="1927225" y="0"/>
                    <a:pt x="2029206" y="101981"/>
                    <a:pt x="2029206" y="227838"/>
                  </a:cubicBezTo>
                  <a:cubicBezTo>
                    <a:pt x="2029206" y="353695"/>
                    <a:pt x="1927225" y="455676"/>
                    <a:pt x="1801368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560064" y="2272589"/>
            <a:ext cx="1511808" cy="331622"/>
            <a:chOff x="0" y="0"/>
            <a:chExt cx="2015744" cy="4421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5744" cy="442163"/>
            </a:xfrm>
            <a:custGeom>
              <a:avLst/>
              <a:gdLst/>
              <a:ahLst/>
              <a:cxnLst/>
              <a:rect r="r" b="b" t="t" l="l"/>
              <a:pathLst>
                <a:path h="442163" w="2015744">
                  <a:moveTo>
                    <a:pt x="0" y="0"/>
                  </a:moveTo>
                  <a:lnTo>
                    <a:pt x="2015744" y="0"/>
                  </a:lnTo>
                  <a:lnTo>
                    <a:pt x="2015744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28" r="0" b="-3882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015744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560064" y="2760269"/>
            <a:ext cx="1901952" cy="633984"/>
            <a:chOff x="0" y="0"/>
            <a:chExt cx="2535936" cy="8453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35936" cy="845312"/>
            </a:xfrm>
            <a:custGeom>
              <a:avLst/>
              <a:gdLst/>
              <a:ahLst/>
              <a:cxnLst/>
              <a:rect r="r" b="b" t="t" l="l"/>
              <a:pathLst>
                <a:path h="845312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845312"/>
                  </a:lnTo>
                  <a:lnTo>
                    <a:pt x="0" y="8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535936" cy="892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6"/>
                </a:lnSpc>
              </a:pPr>
              <a:r>
                <a:rPr lang="en-US" sz="1439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Analytics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560064" y="3405378"/>
            <a:ext cx="1901952" cy="122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152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Apply window functions &amp; CASE logic for trends, rankings, cumulative growth and segmentation.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657088" y="3169920"/>
            <a:ext cx="536448" cy="487680"/>
            <a:chOff x="0" y="0"/>
            <a:chExt cx="715264" cy="65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5264" cy="650240"/>
            </a:xfrm>
            <a:custGeom>
              <a:avLst/>
              <a:gdLst/>
              <a:ahLst/>
              <a:cxnLst/>
              <a:rect r="r" b="b" t="t" l="l"/>
              <a:pathLst>
                <a:path h="650240" w="715264">
                  <a:moveTo>
                    <a:pt x="0" y="0"/>
                  </a:moveTo>
                  <a:lnTo>
                    <a:pt x="715264" y="0"/>
                  </a:lnTo>
                  <a:lnTo>
                    <a:pt x="715264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15264" cy="69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9"/>
                </a:lnSpc>
              </a:pPr>
              <a:r>
                <a:rPr lang="en-US" sz="213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188459" y="1994411"/>
            <a:ext cx="2302259" cy="2838707"/>
            <a:chOff x="0" y="0"/>
            <a:chExt cx="3069679" cy="37849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69717" cy="3784981"/>
            </a:xfrm>
            <a:custGeom>
              <a:avLst/>
              <a:gdLst/>
              <a:ahLst/>
              <a:cxnLst/>
              <a:rect r="r" b="b" t="t" l="l"/>
              <a:pathLst>
                <a:path h="3784981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680460"/>
                  </a:lnTo>
                  <a:cubicBezTo>
                    <a:pt x="3069717" y="3738118"/>
                    <a:pt x="3022981" y="3784981"/>
                    <a:pt x="2965196" y="3784981"/>
                  </a:cubicBezTo>
                  <a:lnTo>
                    <a:pt x="104521" y="3784981"/>
                  </a:lnTo>
                  <a:cubicBezTo>
                    <a:pt x="46863" y="3784981"/>
                    <a:pt x="0" y="3738245"/>
                    <a:pt x="0" y="368046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383531" y="2267512"/>
            <a:ext cx="1521971" cy="341786"/>
            <a:chOff x="0" y="0"/>
            <a:chExt cx="2029295" cy="45571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29206" cy="455676"/>
            </a:xfrm>
            <a:custGeom>
              <a:avLst/>
              <a:gdLst/>
              <a:ahLst/>
              <a:cxnLst/>
              <a:rect r="r" b="b" t="t" l="l"/>
              <a:pathLst>
                <a:path h="455676" w="2029206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801368" y="0"/>
                  </a:lnTo>
                  <a:cubicBezTo>
                    <a:pt x="1927225" y="0"/>
                    <a:pt x="2029206" y="101981"/>
                    <a:pt x="2029206" y="227838"/>
                  </a:cubicBezTo>
                  <a:cubicBezTo>
                    <a:pt x="2029206" y="353695"/>
                    <a:pt x="1927225" y="455676"/>
                    <a:pt x="1801368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388608" y="2272589"/>
            <a:ext cx="1511808" cy="331622"/>
            <a:chOff x="0" y="0"/>
            <a:chExt cx="2015744" cy="4421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15744" cy="442163"/>
            </a:xfrm>
            <a:custGeom>
              <a:avLst/>
              <a:gdLst/>
              <a:ahLst/>
              <a:cxnLst/>
              <a:rect r="r" b="b" t="t" l="l"/>
              <a:pathLst>
                <a:path h="442163" w="2015744">
                  <a:moveTo>
                    <a:pt x="0" y="0"/>
                  </a:moveTo>
                  <a:lnTo>
                    <a:pt x="2015744" y="0"/>
                  </a:lnTo>
                  <a:lnTo>
                    <a:pt x="2015744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28" r="0" b="-3882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015744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388608" y="2760269"/>
            <a:ext cx="1901952" cy="633984"/>
            <a:chOff x="0" y="0"/>
            <a:chExt cx="2535936" cy="8453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35936" cy="845312"/>
            </a:xfrm>
            <a:custGeom>
              <a:avLst/>
              <a:gdLst/>
              <a:ahLst/>
              <a:cxnLst/>
              <a:rect r="r" b="b" t="t" l="l"/>
              <a:pathLst>
                <a:path h="845312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845312"/>
                  </a:lnTo>
                  <a:lnTo>
                    <a:pt x="0" y="8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35936" cy="892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6"/>
                </a:lnSpc>
              </a:pPr>
              <a:r>
                <a:rPr lang="en-US" sz="1439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&amp; Product Views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388608" y="3405378"/>
            <a:ext cx="1901952" cy="122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152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Consolidate the analysis into two reusable reporting views.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6448" y="5132451"/>
            <a:ext cx="8680704" cy="86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Built entirely in T-SQL on top of the gold-layer star schema — </a:t>
            </a:r>
            <a:r>
              <a:rPr lang="en-US" sz="1386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dim_customers</a:t>
            </a: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386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dim_products</a:t>
            </a: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 &amp; </a:t>
            </a:r>
            <a:r>
              <a:rPr lang="en-US" sz="1386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fact_sales</a:t>
            </a: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 from the Data Warehouse project.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REPOSITORY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10006"/>
            <a:ext cx="7802880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98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What's inside the repo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799339"/>
            <a:ext cx="5520947" cy="4643123"/>
            <a:chOff x="0" y="0"/>
            <a:chExt cx="7361263" cy="6190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61301" cy="6190869"/>
            </a:xfrm>
            <a:custGeom>
              <a:avLst/>
              <a:gdLst/>
              <a:ahLst/>
              <a:cxnLst/>
              <a:rect r="r" b="b" t="t" l="l"/>
              <a:pathLst>
                <a:path h="6190869" w="7361301">
                  <a:moveTo>
                    <a:pt x="0" y="0"/>
                  </a:moveTo>
                  <a:lnTo>
                    <a:pt x="7361301" y="0"/>
                  </a:lnTo>
                  <a:lnTo>
                    <a:pt x="7361301" y="6190869"/>
                  </a:lnTo>
                  <a:lnTo>
                    <a:pt x="0" y="6190869"/>
                  </a:lnTo>
                  <a:close/>
                </a:path>
              </a:pathLst>
            </a:custGeom>
            <a:solidFill>
              <a:srgbClr val="04080F">
                <a:alpha val="48627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361263" cy="62289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ECC7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sql-data-analytics-project/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datasets/   </a:t>
              </a:r>
              <a:r>
                <a:rPr lang="en-US" sz="1066" i="true">
                  <a:solidFill>
                    <a:srgbClr val="7C8CAE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-- dim_customers, dim_products, fact_sales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docs/       </a:t>
              </a:r>
              <a:r>
                <a:rPr lang="en-US" sz="1066" i="true">
                  <a:solidFill>
                    <a:srgbClr val="7C8CAE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-- project roadmap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 scripts/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00_init_database.sql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01_database_exploration.sql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02_dimensions_exploration.sql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03_date_range_exploration.sql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04_measures_exploration.sql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05_magnitude_analysis.sql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06_ranking_analysis.sql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07_change_over_time_analysis.sql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08_cumulative_analysis.sql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09_performance_analysis.sql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10_data_segmentation.sql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11_part_to_whole_analysis.sql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12_report_customers.sql</a:t>
              </a:r>
            </a:p>
            <a:p>
              <a:pPr algn="l">
                <a:lnSpc>
                  <a:spcPts val="1510"/>
                </a:lnSpc>
              </a:pPr>
              <a:r>
                <a:rPr lang="en-US" sz="1066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└── 13_report_products.sql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37227" y="1799339"/>
            <a:ext cx="3033779" cy="2204723"/>
            <a:chOff x="0" y="0"/>
            <a:chExt cx="4045039" cy="29396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45077" cy="2939542"/>
            </a:xfrm>
            <a:custGeom>
              <a:avLst/>
              <a:gdLst/>
              <a:ahLst/>
              <a:cxnLst/>
              <a:rect r="r" b="b" t="t" l="l"/>
              <a:pathLst>
                <a:path h="2939542" w="4045077">
                  <a:moveTo>
                    <a:pt x="0" y="104521"/>
                  </a:moveTo>
                  <a:cubicBezTo>
                    <a:pt x="0" y="46863"/>
                    <a:pt x="46863" y="0"/>
                    <a:pt x="104521" y="0"/>
                  </a:cubicBezTo>
                  <a:lnTo>
                    <a:pt x="3940556" y="0"/>
                  </a:lnTo>
                  <a:cubicBezTo>
                    <a:pt x="3998341" y="0"/>
                    <a:pt x="4045077" y="46863"/>
                    <a:pt x="4045077" y="104521"/>
                  </a:cubicBezTo>
                  <a:lnTo>
                    <a:pt x="4045077" y="2835021"/>
                  </a:lnTo>
                  <a:cubicBezTo>
                    <a:pt x="4045077" y="2892806"/>
                    <a:pt x="3998214" y="2939542"/>
                    <a:pt x="3940556" y="2939542"/>
                  </a:cubicBezTo>
                  <a:lnTo>
                    <a:pt x="104521" y="2939542"/>
                  </a:lnTo>
                  <a:cubicBezTo>
                    <a:pt x="46736" y="2939542"/>
                    <a:pt x="0" y="2892679"/>
                    <a:pt x="0" y="2835021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86144" y="2028749"/>
            <a:ext cx="2535936" cy="390144"/>
            <a:chOff x="0" y="0"/>
            <a:chExt cx="3381248" cy="520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1248" cy="520192"/>
            </a:xfrm>
            <a:custGeom>
              <a:avLst/>
              <a:gdLst/>
              <a:ahLst/>
              <a:cxnLst/>
              <a:rect r="r" b="b" t="t" l="l"/>
              <a:pathLst>
                <a:path h="520192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381248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1"/>
                </a:lnSpc>
              </a:pPr>
              <a:r>
                <a:rPr lang="en-US" sz="1493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 SQL scripts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86144" y="2391232"/>
            <a:ext cx="2535936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173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numbered end-to-end: schema setup, EDA, five analytics techniques, then two reporting views.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237227" y="4140203"/>
            <a:ext cx="3033779" cy="2302259"/>
            <a:chOff x="0" y="0"/>
            <a:chExt cx="4045039" cy="30696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45077" cy="3069717"/>
            </a:xfrm>
            <a:custGeom>
              <a:avLst/>
              <a:gdLst/>
              <a:ahLst/>
              <a:cxnLst/>
              <a:rect r="r" b="b" t="t" l="l"/>
              <a:pathLst>
                <a:path h="3069717" w="404507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3940556" y="0"/>
                  </a:lnTo>
                  <a:cubicBezTo>
                    <a:pt x="3998214" y="0"/>
                    <a:pt x="4045077" y="46736"/>
                    <a:pt x="4045077" y="104521"/>
                  </a:cubicBezTo>
                  <a:lnTo>
                    <a:pt x="4045077" y="2965196"/>
                  </a:lnTo>
                  <a:cubicBezTo>
                    <a:pt x="4045077" y="3022854"/>
                    <a:pt x="3998341" y="3069717"/>
                    <a:pt x="3940556" y="3069717"/>
                  </a:cubicBezTo>
                  <a:lnTo>
                    <a:pt x="104521" y="3069717"/>
                  </a:lnTo>
                  <a:cubicBezTo>
                    <a:pt x="46863" y="3069717"/>
                    <a:pt x="0" y="3022981"/>
                    <a:pt x="0" y="2965196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86144" y="4369613"/>
            <a:ext cx="2535936" cy="390144"/>
            <a:chOff x="0" y="0"/>
            <a:chExt cx="3381248" cy="5201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1248" cy="520192"/>
            </a:xfrm>
            <a:custGeom>
              <a:avLst/>
              <a:gdLst/>
              <a:ahLst/>
              <a:cxnLst/>
              <a:rect r="r" b="b" t="t" l="l"/>
              <a:pathLst>
                <a:path h="520192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381248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1"/>
                </a:lnSpc>
              </a:pPr>
              <a:r>
                <a:rPr lang="en-US" sz="1493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Also included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86144" y="4732096"/>
            <a:ext cx="2535936" cy="162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173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Source CSVs for the gold-layer tables, plus a roadmap diagram documenting the two-stage process.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6827520" cy="312115"/>
            <a:chOff x="0" y="0"/>
            <a:chExt cx="910336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03360" cy="416154"/>
            </a:xfrm>
            <a:custGeom>
              <a:avLst/>
              <a:gdLst/>
              <a:ahLst/>
              <a:cxnLst/>
              <a:rect r="r" b="b" t="t" l="l"/>
              <a:pathLst>
                <a:path h="416154" w="9103360">
                  <a:moveTo>
                    <a:pt x="0" y="0"/>
                  </a:moveTo>
                  <a:lnTo>
                    <a:pt x="9103360" y="0"/>
                  </a:lnTo>
                  <a:lnTo>
                    <a:pt x="910336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35" r="0" b="-37623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0336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PART 2 — ADVANCED ANALYTICS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00481"/>
            <a:ext cx="8583168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773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Five techniques, five kinds of insight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896875"/>
            <a:ext cx="2692403" cy="1912115"/>
            <a:chOff x="0" y="0"/>
            <a:chExt cx="3589871" cy="25494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89909" cy="2549525"/>
            </a:xfrm>
            <a:custGeom>
              <a:avLst/>
              <a:gdLst/>
              <a:ahLst/>
              <a:cxnLst/>
              <a:rect r="r" b="b" t="t" l="l"/>
              <a:pathLst>
                <a:path h="2549525" w="3589909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3485261" y="0"/>
                  </a:lnTo>
                  <a:cubicBezTo>
                    <a:pt x="3543046" y="0"/>
                    <a:pt x="3589909" y="46863"/>
                    <a:pt x="3589909" y="104648"/>
                  </a:cubicBezTo>
                  <a:lnTo>
                    <a:pt x="3589909" y="2444877"/>
                  </a:lnTo>
                  <a:cubicBezTo>
                    <a:pt x="3589909" y="2502662"/>
                    <a:pt x="3543046" y="2549525"/>
                    <a:pt x="3485261" y="2549525"/>
                  </a:cubicBezTo>
                  <a:lnTo>
                    <a:pt x="104648" y="2549525"/>
                  </a:lnTo>
                  <a:cubicBezTo>
                    <a:pt x="46863" y="2549525"/>
                    <a:pt x="0" y="2502662"/>
                    <a:pt x="0" y="2444877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26443" y="2111454"/>
            <a:ext cx="595379" cy="322278"/>
            <a:chOff x="0" y="0"/>
            <a:chExt cx="793839" cy="4297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3877" cy="429641"/>
            </a:xfrm>
            <a:custGeom>
              <a:avLst/>
              <a:gdLst/>
              <a:ahLst/>
              <a:cxnLst/>
              <a:rect r="r" b="b" t="t" l="l"/>
              <a:pathLst>
                <a:path h="429641" w="793877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578993" y="0"/>
                  </a:lnTo>
                  <a:cubicBezTo>
                    <a:pt x="697611" y="0"/>
                    <a:pt x="793877" y="96139"/>
                    <a:pt x="793877" y="214884"/>
                  </a:cubicBezTo>
                  <a:cubicBezTo>
                    <a:pt x="793877" y="333629"/>
                    <a:pt x="697611" y="429641"/>
                    <a:pt x="578993" y="429641"/>
                  </a:cubicBezTo>
                  <a:lnTo>
                    <a:pt x="214884" y="429641"/>
                  </a:lnTo>
                  <a:cubicBezTo>
                    <a:pt x="96139" y="429641"/>
                    <a:pt x="0" y="333502"/>
                    <a:pt x="0" y="214884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2116531"/>
            <a:ext cx="585216" cy="312115"/>
            <a:chOff x="0" y="0"/>
            <a:chExt cx="780288" cy="4161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288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80288" cy="44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2535936"/>
            <a:ext cx="2292096" cy="536448"/>
            <a:chOff x="0" y="0"/>
            <a:chExt cx="3056128" cy="715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56128" cy="715264"/>
            </a:xfrm>
            <a:custGeom>
              <a:avLst/>
              <a:gdLst/>
              <a:ahLst/>
              <a:cxnLst/>
              <a:rect r="r" b="b" t="t" l="l"/>
              <a:pathLst>
                <a:path h="715264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56128" cy="753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7"/>
                </a:lnSpc>
              </a:pPr>
              <a:r>
                <a:rPr lang="en-US" sz="1386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Change Over Time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3052877"/>
            <a:ext cx="2292096" cy="273101"/>
            <a:chOff x="0" y="0"/>
            <a:chExt cx="3056128" cy="3641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56128" cy="364134"/>
            </a:xfrm>
            <a:custGeom>
              <a:avLst/>
              <a:gdLst/>
              <a:ahLst/>
              <a:cxnLst/>
              <a:rect r="r" b="b" t="t" l="l"/>
              <a:pathLst>
                <a:path h="364134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056128" cy="373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3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Date functions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31520" y="3298317"/>
            <a:ext cx="2292096" cy="35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5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Track trends &amp; growth by year and month.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359915" y="1896875"/>
            <a:ext cx="2692403" cy="1912115"/>
            <a:chOff x="0" y="0"/>
            <a:chExt cx="3589871" cy="25494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89909" cy="2549525"/>
            </a:xfrm>
            <a:custGeom>
              <a:avLst/>
              <a:gdLst/>
              <a:ahLst/>
              <a:cxnLst/>
              <a:rect r="r" b="b" t="t" l="l"/>
              <a:pathLst>
                <a:path h="2549525" w="3589909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3485261" y="0"/>
                  </a:lnTo>
                  <a:cubicBezTo>
                    <a:pt x="3543046" y="0"/>
                    <a:pt x="3589909" y="46863"/>
                    <a:pt x="3589909" y="104648"/>
                  </a:cubicBezTo>
                  <a:lnTo>
                    <a:pt x="3589909" y="2444877"/>
                  </a:lnTo>
                  <a:cubicBezTo>
                    <a:pt x="3589909" y="2502662"/>
                    <a:pt x="3543046" y="2549525"/>
                    <a:pt x="3485261" y="2549525"/>
                  </a:cubicBezTo>
                  <a:lnTo>
                    <a:pt x="104648" y="2549525"/>
                  </a:lnTo>
                  <a:cubicBezTo>
                    <a:pt x="46863" y="2549525"/>
                    <a:pt x="0" y="2502662"/>
                    <a:pt x="0" y="2444877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554987" y="2111454"/>
            <a:ext cx="595379" cy="322278"/>
            <a:chOff x="0" y="0"/>
            <a:chExt cx="793839" cy="4297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3877" cy="429641"/>
            </a:xfrm>
            <a:custGeom>
              <a:avLst/>
              <a:gdLst/>
              <a:ahLst/>
              <a:cxnLst/>
              <a:rect r="r" b="b" t="t" l="l"/>
              <a:pathLst>
                <a:path h="429641" w="793877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578993" y="0"/>
                  </a:lnTo>
                  <a:cubicBezTo>
                    <a:pt x="697611" y="0"/>
                    <a:pt x="793877" y="96139"/>
                    <a:pt x="793877" y="214884"/>
                  </a:cubicBezTo>
                  <a:cubicBezTo>
                    <a:pt x="793877" y="333629"/>
                    <a:pt x="697611" y="429641"/>
                    <a:pt x="578993" y="429641"/>
                  </a:cubicBezTo>
                  <a:lnTo>
                    <a:pt x="214884" y="429641"/>
                  </a:lnTo>
                  <a:cubicBezTo>
                    <a:pt x="96139" y="429641"/>
                    <a:pt x="0" y="333502"/>
                    <a:pt x="0" y="214884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560064" y="2116531"/>
            <a:ext cx="585216" cy="312115"/>
            <a:chOff x="0" y="0"/>
            <a:chExt cx="780288" cy="4161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88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80288" cy="44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560064" y="2535936"/>
            <a:ext cx="2292096" cy="536448"/>
            <a:chOff x="0" y="0"/>
            <a:chExt cx="3056128" cy="7152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56128" cy="715264"/>
            </a:xfrm>
            <a:custGeom>
              <a:avLst/>
              <a:gdLst/>
              <a:ahLst/>
              <a:cxnLst/>
              <a:rect r="r" b="b" t="t" l="l"/>
              <a:pathLst>
                <a:path h="715264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056128" cy="753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7"/>
                </a:lnSpc>
              </a:pPr>
              <a:r>
                <a:rPr lang="en-US" sz="1386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Cumulative Analysis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560064" y="3052877"/>
            <a:ext cx="2292096" cy="273101"/>
            <a:chOff x="0" y="0"/>
            <a:chExt cx="3056128" cy="3641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56128" cy="364134"/>
            </a:xfrm>
            <a:custGeom>
              <a:avLst/>
              <a:gdLst/>
              <a:ahLst/>
              <a:cxnLst/>
              <a:rect r="r" b="b" t="t" l="l"/>
              <a:pathLst>
                <a:path h="364134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056128" cy="373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3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SUM() OVER()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560064" y="3298317"/>
            <a:ext cx="2292096" cy="35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5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Running totals &amp; moving averages.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188459" y="1896875"/>
            <a:ext cx="2692403" cy="1912115"/>
            <a:chOff x="0" y="0"/>
            <a:chExt cx="3589871" cy="25494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89909" cy="2549525"/>
            </a:xfrm>
            <a:custGeom>
              <a:avLst/>
              <a:gdLst/>
              <a:ahLst/>
              <a:cxnLst/>
              <a:rect r="r" b="b" t="t" l="l"/>
              <a:pathLst>
                <a:path h="2549525" w="3589909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3485261" y="0"/>
                  </a:lnTo>
                  <a:cubicBezTo>
                    <a:pt x="3543046" y="0"/>
                    <a:pt x="3589909" y="46863"/>
                    <a:pt x="3589909" y="104648"/>
                  </a:cubicBezTo>
                  <a:lnTo>
                    <a:pt x="3589909" y="2444877"/>
                  </a:lnTo>
                  <a:cubicBezTo>
                    <a:pt x="3589909" y="2502662"/>
                    <a:pt x="3543046" y="2549525"/>
                    <a:pt x="3485261" y="2549525"/>
                  </a:cubicBezTo>
                  <a:lnTo>
                    <a:pt x="104648" y="2549525"/>
                  </a:lnTo>
                  <a:cubicBezTo>
                    <a:pt x="46863" y="2549525"/>
                    <a:pt x="0" y="2502662"/>
                    <a:pt x="0" y="2444877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383531" y="2111454"/>
            <a:ext cx="595379" cy="322278"/>
            <a:chOff x="0" y="0"/>
            <a:chExt cx="793839" cy="4297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3877" cy="429641"/>
            </a:xfrm>
            <a:custGeom>
              <a:avLst/>
              <a:gdLst/>
              <a:ahLst/>
              <a:cxnLst/>
              <a:rect r="r" b="b" t="t" l="l"/>
              <a:pathLst>
                <a:path h="429641" w="793877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578993" y="0"/>
                  </a:lnTo>
                  <a:cubicBezTo>
                    <a:pt x="697611" y="0"/>
                    <a:pt x="793877" y="96139"/>
                    <a:pt x="793877" y="214884"/>
                  </a:cubicBezTo>
                  <a:cubicBezTo>
                    <a:pt x="793877" y="333629"/>
                    <a:pt x="697611" y="429641"/>
                    <a:pt x="578993" y="429641"/>
                  </a:cubicBezTo>
                  <a:lnTo>
                    <a:pt x="214884" y="429641"/>
                  </a:lnTo>
                  <a:cubicBezTo>
                    <a:pt x="96139" y="429641"/>
                    <a:pt x="0" y="333502"/>
                    <a:pt x="0" y="214884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388608" y="2116531"/>
            <a:ext cx="585216" cy="312115"/>
            <a:chOff x="0" y="0"/>
            <a:chExt cx="780288" cy="4161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0288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780288" cy="44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388608" y="2535936"/>
            <a:ext cx="2292096" cy="536448"/>
            <a:chOff x="0" y="0"/>
            <a:chExt cx="3056128" cy="7152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56128" cy="715264"/>
            </a:xfrm>
            <a:custGeom>
              <a:avLst/>
              <a:gdLst/>
              <a:ahLst/>
              <a:cxnLst/>
              <a:rect r="r" b="b" t="t" l="l"/>
              <a:pathLst>
                <a:path h="715264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056128" cy="753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7"/>
                </a:lnSpc>
              </a:pPr>
              <a:r>
                <a:rPr lang="en-US" sz="1386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Analysis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388608" y="3052877"/>
            <a:ext cx="2292096" cy="273101"/>
            <a:chOff x="0" y="0"/>
            <a:chExt cx="3056128" cy="3641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56128" cy="364134"/>
            </a:xfrm>
            <a:custGeom>
              <a:avLst/>
              <a:gdLst/>
              <a:ahLst/>
              <a:cxnLst/>
              <a:rect r="r" b="b" t="t" l="l"/>
              <a:pathLst>
                <a:path h="364134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056128" cy="373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3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LAG() · CASE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6388608" y="3298317"/>
            <a:ext cx="2292096" cy="35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5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vs. average and prior year.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23979" y="4042667"/>
            <a:ext cx="3814067" cy="1912115"/>
            <a:chOff x="0" y="0"/>
            <a:chExt cx="5085423" cy="25494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85461" cy="2549525"/>
            </a:xfrm>
            <a:custGeom>
              <a:avLst/>
              <a:gdLst/>
              <a:ahLst/>
              <a:cxnLst/>
              <a:rect r="r" b="b" t="t" l="l"/>
              <a:pathLst>
                <a:path h="2549525" w="5085461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4980813" y="0"/>
                  </a:lnTo>
                  <a:cubicBezTo>
                    <a:pt x="5038598" y="0"/>
                    <a:pt x="5085461" y="46863"/>
                    <a:pt x="5085461" y="104648"/>
                  </a:cubicBezTo>
                  <a:lnTo>
                    <a:pt x="5085461" y="2444877"/>
                  </a:lnTo>
                  <a:cubicBezTo>
                    <a:pt x="5085461" y="2502662"/>
                    <a:pt x="5038598" y="2549525"/>
                    <a:pt x="4980813" y="2549525"/>
                  </a:cubicBezTo>
                  <a:lnTo>
                    <a:pt x="104648" y="2549525"/>
                  </a:lnTo>
                  <a:cubicBezTo>
                    <a:pt x="46863" y="2549525"/>
                    <a:pt x="0" y="2502662"/>
                    <a:pt x="0" y="2444877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19051" y="4257246"/>
            <a:ext cx="595379" cy="322278"/>
            <a:chOff x="0" y="0"/>
            <a:chExt cx="793839" cy="42970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3877" cy="429641"/>
            </a:xfrm>
            <a:custGeom>
              <a:avLst/>
              <a:gdLst/>
              <a:ahLst/>
              <a:cxnLst/>
              <a:rect r="r" b="b" t="t" l="l"/>
              <a:pathLst>
                <a:path h="429641" w="793877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578993" y="0"/>
                  </a:lnTo>
                  <a:cubicBezTo>
                    <a:pt x="697611" y="0"/>
                    <a:pt x="793877" y="96139"/>
                    <a:pt x="793877" y="214884"/>
                  </a:cubicBezTo>
                  <a:cubicBezTo>
                    <a:pt x="793877" y="333629"/>
                    <a:pt x="697611" y="429641"/>
                    <a:pt x="578993" y="429641"/>
                  </a:cubicBezTo>
                  <a:lnTo>
                    <a:pt x="214884" y="429641"/>
                  </a:lnTo>
                  <a:cubicBezTo>
                    <a:pt x="96139" y="429641"/>
                    <a:pt x="0" y="333502"/>
                    <a:pt x="0" y="214884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24128" y="4262323"/>
            <a:ext cx="585216" cy="312115"/>
            <a:chOff x="0" y="0"/>
            <a:chExt cx="780288" cy="41615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0288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780288" cy="44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24128" y="4681728"/>
            <a:ext cx="3413760" cy="487680"/>
            <a:chOff x="0" y="0"/>
            <a:chExt cx="4551680" cy="650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51680" cy="650240"/>
            </a:xfrm>
            <a:custGeom>
              <a:avLst/>
              <a:gdLst/>
              <a:ahLst/>
              <a:cxnLst/>
              <a:rect r="r" b="b" t="t" l="l"/>
              <a:pathLst>
                <a:path h="650240" w="4551680">
                  <a:moveTo>
                    <a:pt x="0" y="0"/>
                  </a:moveTo>
                  <a:lnTo>
                    <a:pt x="4551680" y="0"/>
                  </a:lnTo>
                  <a:lnTo>
                    <a:pt x="4551680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551680" cy="678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64"/>
                </a:lnSpc>
              </a:pPr>
              <a:r>
                <a:rPr lang="en-US" sz="1386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Segmentation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128" y="5140147"/>
            <a:ext cx="3413760" cy="273101"/>
            <a:chOff x="0" y="0"/>
            <a:chExt cx="4551680" cy="3641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551680" cy="364134"/>
            </a:xfrm>
            <a:custGeom>
              <a:avLst/>
              <a:gdLst/>
              <a:ahLst/>
              <a:cxnLst/>
              <a:rect r="r" b="b" t="t" l="l"/>
              <a:pathLst>
                <a:path h="364134" w="4551680">
                  <a:moveTo>
                    <a:pt x="0" y="0"/>
                  </a:moveTo>
                  <a:lnTo>
                    <a:pt x="4551680" y="0"/>
                  </a:lnTo>
                  <a:lnTo>
                    <a:pt x="45516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551680" cy="373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3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 · GROUP BY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24128" y="5385587"/>
            <a:ext cx="3413760" cy="40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5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Group customers &amp; products into bands.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115563" y="4042667"/>
            <a:ext cx="3814067" cy="1912115"/>
            <a:chOff x="0" y="0"/>
            <a:chExt cx="5085423" cy="254948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85461" cy="2549525"/>
            </a:xfrm>
            <a:custGeom>
              <a:avLst/>
              <a:gdLst/>
              <a:ahLst/>
              <a:cxnLst/>
              <a:rect r="r" b="b" t="t" l="l"/>
              <a:pathLst>
                <a:path h="2549525" w="5085461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4980813" y="0"/>
                  </a:lnTo>
                  <a:cubicBezTo>
                    <a:pt x="5038598" y="0"/>
                    <a:pt x="5085461" y="46863"/>
                    <a:pt x="5085461" y="104648"/>
                  </a:cubicBezTo>
                  <a:lnTo>
                    <a:pt x="5085461" y="2444877"/>
                  </a:lnTo>
                  <a:cubicBezTo>
                    <a:pt x="5085461" y="2502662"/>
                    <a:pt x="5038598" y="2549525"/>
                    <a:pt x="4980813" y="2549525"/>
                  </a:cubicBezTo>
                  <a:lnTo>
                    <a:pt x="104648" y="2549525"/>
                  </a:lnTo>
                  <a:cubicBezTo>
                    <a:pt x="46863" y="2549525"/>
                    <a:pt x="0" y="2502662"/>
                    <a:pt x="0" y="2444877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5310635" y="4257246"/>
            <a:ext cx="595379" cy="322278"/>
            <a:chOff x="0" y="0"/>
            <a:chExt cx="793839" cy="42970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93877" cy="429641"/>
            </a:xfrm>
            <a:custGeom>
              <a:avLst/>
              <a:gdLst/>
              <a:ahLst/>
              <a:cxnLst/>
              <a:rect r="r" b="b" t="t" l="l"/>
              <a:pathLst>
                <a:path h="429641" w="793877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578993" y="0"/>
                  </a:lnTo>
                  <a:cubicBezTo>
                    <a:pt x="697611" y="0"/>
                    <a:pt x="793877" y="96139"/>
                    <a:pt x="793877" y="214884"/>
                  </a:cubicBezTo>
                  <a:cubicBezTo>
                    <a:pt x="793877" y="333629"/>
                    <a:pt x="697611" y="429641"/>
                    <a:pt x="578993" y="429641"/>
                  </a:cubicBezTo>
                  <a:lnTo>
                    <a:pt x="214884" y="429641"/>
                  </a:lnTo>
                  <a:cubicBezTo>
                    <a:pt x="96139" y="429641"/>
                    <a:pt x="0" y="333502"/>
                    <a:pt x="0" y="214884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315712" y="4262323"/>
            <a:ext cx="585216" cy="312115"/>
            <a:chOff x="0" y="0"/>
            <a:chExt cx="780288" cy="41615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80288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780288" cy="44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315712" y="4681728"/>
            <a:ext cx="3413760" cy="487680"/>
            <a:chOff x="0" y="0"/>
            <a:chExt cx="4551680" cy="650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551680" cy="650240"/>
            </a:xfrm>
            <a:custGeom>
              <a:avLst/>
              <a:gdLst/>
              <a:ahLst/>
              <a:cxnLst/>
              <a:rect r="r" b="b" t="t" l="l"/>
              <a:pathLst>
                <a:path h="650240" w="4551680">
                  <a:moveTo>
                    <a:pt x="0" y="0"/>
                  </a:moveTo>
                  <a:lnTo>
                    <a:pt x="4551680" y="0"/>
                  </a:lnTo>
                  <a:lnTo>
                    <a:pt x="4551680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4551680" cy="678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64"/>
                </a:lnSpc>
              </a:pPr>
              <a:r>
                <a:rPr lang="en-US" sz="1386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Part-to-Whole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315712" y="5140147"/>
            <a:ext cx="3413760" cy="273101"/>
            <a:chOff x="0" y="0"/>
            <a:chExt cx="4551680" cy="36413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51680" cy="364134"/>
            </a:xfrm>
            <a:custGeom>
              <a:avLst/>
              <a:gdLst/>
              <a:ahLst/>
              <a:cxnLst/>
              <a:rect r="r" b="b" t="t" l="l"/>
              <a:pathLst>
                <a:path h="364134" w="4551680">
                  <a:moveTo>
                    <a:pt x="0" y="0"/>
                  </a:moveTo>
                  <a:lnTo>
                    <a:pt x="4551680" y="0"/>
                  </a:lnTo>
                  <a:lnTo>
                    <a:pt x="45516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4551680" cy="373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3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SUM() OVER()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5315712" y="5385587"/>
            <a:ext cx="3413760" cy="40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5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Each category's share of total sales.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SUMMARY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00481"/>
            <a:ext cx="8680704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66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complete, portfolio-ready analytics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945643"/>
            <a:ext cx="4155443" cy="3521459"/>
            <a:chOff x="0" y="0"/>
            <a:chExt cx="5540591" cy="46952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40502" cy="4695190"/>
            </a:xfrm>
            <a:custGeom>
              <a:avLst/>
              <a:gdLst/>
              <a:ahLst/>
              <a:cxnLst/>
              <a:rect r="r" b="b" t="t" l="l"/>
              <a:pathLst>
                <a:path h="4695190" w="5540502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235" y="0"/>
                  </a:lnTo>
                  <a:cubicBezTo>
                    <a:pt x="5493893" y="0"/>
                    <a:pt x="5540502" y="46736"/>
                    <a:pt x="5540502" y="104267"/>
                  </a:cubicBezTo>
                  <a:lnTo>
                    <a:pt x="5540502" y="4590923"/>
                  </a:lnTo>
                  <a:cubicBezTo>
                    <a:pt x="5540502" y="4648581"/>
                    <a:pt x="5493766" y="4695190"/>
                    <a:pt x="5436235" y="4695190"/>
                  </a:cubicBezTo>
                  <a:lnTo>
                    <a:pt x="104267" y="4695190"/>
                  </a:lnTo>
                  <a:cubicBezTo>
                    <a:pt x="46609" y="4695190"/>
                    <a:pt x="0" y="4648454"/>
                    <a:pt x="0" y="4590923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29056" y="2223821"/>
            <a:ext cx="3560064" cy="390144"/>
            <a:chOff x="0" y="0"/>
            <a:chExt cx="4746752" cy="520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46752" cy="520192"/>
            </a:xfrm>
            <a:custGeom>
              <a:avLst/>
              <a:gdLst/>
              <a:ahLst/>
              <a:cxnLst/>
              <a:rect r="r" b="b" t="t" l="l"/>
              <a:pathLst>
                <a:path h="520192" w="4746752">
                  <a:moveTo>
                    <a:pt x="0" y="0"/>
                  </a:moveTo>
                  <a:lnTo>
                    <a:pt x="4746752" y="0"/>
                  </a:lnTo>
                  <a:lnTo>
                    <a:pt x="474675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46752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Highlights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29056" y="2645283"/>
            <a:ext cx="3560064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33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EDA foundation (structure, dimensions, dates, measures) · five advanced-analytics techniques · two capstone reporting views · every script commented with its purpose.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969259" y="1945643"/>
            <a:ext cx="4155443" cy="3521459"/>
            <a:chOff x="0" y="0"/>
            <a:chExt cx="5540591" cy="4695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40502" cy="4695190"/>
            </a:xfrm>
            <a:custGeom>
              <a:avLst/>
              <a:gdLst/>
              <a:ahLst/>
              <a:cxnLst/>
              <a:rect r="r" b="b" t="t" l="l"/>
              <a:pathLst>
                <a:path h="4695190" w="5540502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235" y="0"/>
                  </a:lnTo>
                  <a:cubicBezTo>
                    <a:pt x="5493893" y="0"/>
                    <a:pt x="5540502" y="46736"/>
                    <a:pt x="5540502" y="104267"/>
                  </a:cubicBezTo>
                  <a:lnTo>
                    <a:pt x="5540502" y="4590923"/>
                  </a:lnTo>
                  <a:cubicBezTo>
                    <a:pt x="5540502" y="4648581"/>
                    <a:pt x="5493766" y="4695190"/>
                    <a:pt x="5436235" y="4695190"/>
                  </a:cubicBezTo>
                  <a:lnTo>
                    <a:pt x="104267" y="4695190"/>
                  </a:lnTo>
                  <a:cubicBezTo>
                    <a:pt x="46609" y="4695190"/>
                    <a:pt x="0" y="4648454"/>
                    <a:pt x="0" y="4590923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266944" y="2223821"/>
            <a:ext cx="3560064" cy="390144"/>
            <a:chOff x="0" y="0"/>
            <a:chExt cx="4746752" cy="520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46752" cy="520192"/>
            </a:xfrm>
            <a:custGeom>
              <a:avLst/>
              <a:gdLst/>
              <a:ahLst/>
              <a:cxnLst/>
              <a:rect r="r" b="b" t="t" l="l"/>
              <a:pathLst>
                <a:path h="520192" w="4746752">
                  <a:moveTo>
                    <a:pt x="0" y="0"/>
                  </a:moveTo>
                  <a:lnTo>
                    <a:pt x="4746752" y="0"/>
                  </a:lnTo>
                  <a:lnTo>
                    <a:pt x="474675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746752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skills demonstrated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61867" y="2725931"/>
            <a:ext cx="1131827" cy="341786"/>
            <a:chOff x="0" y="0"/>
            <a:chExt cx="1509103" cy="4557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09014" cy="455676"/>
            </a:xfrm>
            <a:custGeom>
              <a:avLst/>
              <a:gdLst/>
              <a:ahLst/>
              <a:cxnLst/>
              <a:rect r="r" b="b" t="t" l="l"/>
              <a:pathLst>
                <a:path h="455676" w="1509014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281176" y="0"/>
                  </a:lnTo>
                  <a:cubicBezTo>
                    <a:pt x="1407033" y="0"/>
                    <a:pt x="1509014" y="101981"/>
                    <a:pt x="1509014" y="227838"/>
                  </a:cubicBezTo>
                  <a:cubicBezTo>
                    <a:pt x="1509014" y="353695"/>
                    <a:pt x="1407033" y="455676"/>
                    <a:pt x="1281176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266944" y="2731008"/>
            <a:ext cx="1121664" cy="331622"/>
            <a:chOff x="0" y="0"/>
            <a:chExt cx="1495552" cy="442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5552" cy="442163"/>
            </a:xfrm>
            <a:custGeom>
              <a:avLst/>
              <a:gdLst/>
              <a:ahLst/>
              <a:cxnLst/>
              <a:rect r="r" b="b" t="t" l="l"/>
              <a:pathLst>
                <a:path h="442163" w="1495552">
                  <a:moveTo>
                    <a:pt x="0" y="0"/>
                  </a:moveTo>
                  <a:lnTo>
                    <a:pt x="1495552" y="0"/>
                  </a:lnTo>
                  <a:lnTo>
                    <a:pt x="1495552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5" r="0" b="-159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495552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81067" y="2725931"/>
            <a:ext cx="1034291" cy="341786"/>
            <a:chOff x="0" y="0"/>
            <a:chExt cx="1379055" cy="4557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8966" cy="455676"/>
            </a:xfrm>
            <a:custGeom>
              <a:avLst/>
              <a:gdLst/>
              <a:ahLst/>
              <a:cxnLst/>
              <a:rect r="r" b="b" t="t" l="l"/>
              <a:pathLst>
                <a:path h="455676" w="1378966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151128" y="0"/>
                  </a:lnTo>
                  <a:cubicBezTo>
                    <a:pt x="1276985" y="0"/>
                    <a:pt x="1378966" y="101981"/>
                    <a:pt x="1378966" y="227838"/>
                  </a:cubicBezTo>
                  <a:cubicBezTo>
                    <a:pt x="1378966" y="353695"/>
                    <a:pt x="1276985" y="455676"/>
                    <a:pt x="1151128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486144" y="2731008"/>
            <a:ext cx="1024128" cy="331622"/>
            <a:chOff x="0" y="0"/>
            <a:chExt cx="1365504" cy="4421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65504" cy="442163"/>
            </a:xfrm>
            <a:custGeom>
              <a:avLst/>
              <a:gdLst/>
              <a:ahLst/>
              <a:cxnLst/>
              <a:rect r="r" b="b" t="t" l="l"/>
              <a:pathLst>
                <a:path h="442163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65504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61867" y="3174597"/>
            <a:ext cx="1521971" cy="341786"/>
            <a:chOff x="0" y="0"/>
            <a:chExt cx="2029295" cy="4557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9206" cy="455676"/>
            </a:xfrm>
            <a:custGeom>
              <a:avLst/>
              <a:gdLst/>
              <a:ahLst/>
              <a:cxnLst/>
              <a:rect r="r" b="b" t="t" l="l"/>
              <a:pathLst>
                <a:path h="455676" w="2029206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801368" y="0"/>
                  </a:lnTo>
                  <a:cubicBezTo>
                    <a:pt x="1927225" y="0"/>
                    <a:pt x="2029206" y="101981"/>
                    <a:pt x="2029206" y="227838"/>
                  </a:cubicBezTo>
                  <a:cubicBezTo>
                    <a:pt x="2029206" y="353695"/>
                    <a:pt x="1927225" y="455676"/>
                    <a:pt x="1801368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266944" y="3179674"/>
            <a:ext cx="1511808" cy="331622"/>
            <a:chOff x="0" y="0"/>
            <a:chExt cx="2015744" cy="4421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5744" cy="442163"/>
            </a:xfrm>
            <a:custGeom>
              <a:avLst/>
              <a:gdLst/>
              <a:ahLst/>
              <a:cxnLst/>
              <a:rect r="r" b="b" t="t" l="l"/>
              <a:pathLst>
                <a:path h="442163" w="2015744">
                  <a:moveTo>
                    <a:pt x="0" y="0"/>
                  </a:moveTo>
                  <a:lnTo>
                    <a:pt x="2015744" y="0"/>
                  </a:lnTo>
                  <a:lnTo>
                    <a:pt x="2015744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28" r="0" b="-3882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015744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WINDOW FN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71211" y="3174597"/>
            <a:ext cx="985523" cy="341786"/>
            <a:chOff x="0" y="0"/>
            <a:chExt cx="1314031" cy="4557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4069" cy="455676"/>
            </a:xfrm>
            <a:custGeom>
              <a:avLst/>
              <a:gdLst/>
              <a:ahLst/>
              <a:cxnLst/>
              <a:rect r="r" b="b" t="t" l="l"/>
              <a:pathLst>
                <a:path h="455676" w="1314069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086231" y="0"/>
                  </a:lnTo>
                  <a:cubicBezTo>
                    <a:pt x="1212088" y="0"/>
                    <a:pt x="1314069" y="101981"/>
                    <a:pt x="1314069" y="227838"/>
                  </a:cubicBezTo>
                  <a:cubicBezTo>
                    <a:pt x="1314069" y="353695"/>
                    <a:pt x="1211961" y="455676"/>
                    <a:pt x="1086231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876288" y="3179674"/>
            <a:ext cx="975360" cy="331622"/>
            <a:chOff x="0" y="0"/>
            <a:chExt cx="1300480" cy="4421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0480" cy="442163"/>
            </a:xfrm>
            <a:custGeom>
              <a:avLst/>
              <a:gdLst/>
              <a:ahLst/>
              <a:cxnLst/>
              <a:rect r="r" b="b" t="t" l="l"/>
              <a:pathLst>
                <a:path h="442163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300480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261867" y="3623262"/>
            <a:ext cx="1668275" cy="341786"/>
            <a:chOff x="0" y="0"/>
            <a:chExt cx="2224367" cy="4557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24405" cy="455676"/>
            </a:xfrm>
            <a:custGeom>
              <a:avLst/>
              <a:gdLst/>
              <a:ahLst/>
              <a:cxnLst/>
              <a:rect r="r" b="b" t="t" l="l"/>
              <a:pathLst>
                <a:path h="455676" w="2224405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996567" y="0"/>
                  </a:lnTo>
                  <a:cubicBezTo>
                    <a:pt x="2122424" y="0"/>
                    <a:pt x="2224405" y="101981"/>
                    <a:pt x="2224405" y="227838"/>
                  </a:cubicBezTo>
                  <a:cubicBezTo>
                    <a:pt x="2224405" y="353695"/>
                    <a:pt x="2122424" y="455676"/>
                    <a:pt x="1996567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266944" y="3628339"/>
            <a:ext cx="1658112" cy="331622"/>
            <a:chOff x="0" y="0"/>
            <a:chExt cx="2210816" cy="4421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0816" cy="442163"/>
            </a:xfrm>
            <a:custGeom>
              <a:avLst/>
              <a:gdLst/>
              <a:ahLst/>
              <a:cxnLst/>
              <a:rect r="r" b="b" t="t" l="l"/>
              <a:pathLst>
                <a:path h="442163" w="2210816">
                  <a:moveTo>
                    <a:pt x="0" y="0"/>
                  </a:moveTo>
                  <a:lnTo>
                    <a:pt x="2210816" y="0"/>
                  </a:lnTo>
                  <a:lnTo>
                    <a:pt x="2210816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2210816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LAG / LEAD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266944" y="4176141"/>
            <a:ext cx="3560064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226" i="true">
                <a:solidFill>
                  <a:srgbClr val="7C8CA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full source of all 14 scripts is walked through slide-by-slide in the companion code deck.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36448" y="6681216"/>
            <a:ext cx="5364480" cy="292608"/>
            <a:chOff x="0" y="0"/>
            <a:chExt cx="7152640" cy="3901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2640" cy="390144"/>
            </a:xfrm>
            <a:custGeom>
              <a:avLst/>
              <a:gdLst/>
              <a:ahLst/>
              <a:cxnLst/>
              <a:rect r="r" b="b" t="t" l="l"/>
              <a:pathLst>
                <a:path h="390144" w="7152640">
                  <a:moveTo>
                    <a:pt x="0" y="0"/>
                  </a:moveTo>
                  <a:lnTo>
                    <a:pt x="7152640" y="0"/>
                  </a:lnTo>
                  <a:lnTo>
                    <a:pt x="715264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715264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sz="117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Anna Pauseiro — IT professional passionate about data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511296" y="6681216"/>
            <a:ext cx="5218176" cy="292608"/>
            <a:chOff x="0" y="0"/>
            <a:chExt cx="6957568" cy="3901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57568" cy="390144"/>
            </a:xfrm>
            <a:custGeom>
              <a:avLst/>
              <a:gdLst/>
              <a:ahLst/>
              <a:cxnLst/>
              <a:rect r="r" b="b" t="t" l="l"/>
              <a:pathLst>
                <a:path h="390144" w="6957568">
                  <a:moveTo>
                    <a:pt x="0" y="0"/>
                  </a:moveTo>
                  <a:lnTo>
                    <a:pt x="6957568" y="0"/>
                  </a:lnTo>
                  <a:lnTo>
                    <a:pt x="6957568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483" r="0" b="-29748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957568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79"/>
                </a:lnSpc>
              </a:pPr>
              <a:r>
                <a:rPr lang="en-US" sz="1066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github.com/annapauseiro/sql-data-analytics-project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DAHVBPYGlKk</dc:identifier>
  <dcterms:modified xsi:type="dcterms:W3CDTF">2011-08-01T06:04:30Z</dcterms:modified>
  <cp:revision>1</cp:revision>
  <dc:title>SQL_Data_Analytics_Project_Overview</dc:title>
</cp:coreProperties>
</file>