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Calibri (MS) Bold" charset="1" panose="020F0702030404030204"/>
      <p:regular r:id="rId12"/>
    </p:embeddedFont>
    <p:embeddedFont>
      <p:font typeface="Calibri (MS)" charset="1" panose="020F0502020204030204"/>
      <p:regular r:id="rId13"/>
    </p:embeddedFont>
    <p:embeddedFont>
      <p:font typeface="Courier New" charset="1" panose="02070309020205020404"/>
      <p:regular r:id="rId14"/>
    </p:embeddedFont>
    <p:embeddedFont>
      <p:font typeface="Courier New Italics" charset="1" panose="02070409020205090404"/>
      <p:regular r:id="rId15"/>
    </p:embeddedFont>
    <p:embeddedFont>
      <p:font typeface="Courier New Bold" charset="1" panose="02070609020205020404"/>
      <p:regular r:id="rId16"/>
    </p:embeddedFont>
    <p:embeddedFont>
      <p:font typeface="Calibri (MS) Italics" charset="1" panose="020F05020202040A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1511808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PROJECT · DATA ENGINEERING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1970913"/>
            <a:ext cx="819302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26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Data Warehouse</a:t>
            </a:r>
          </a:p>
          <a:p>
            <a:pPr algn="l">
              <a:lnSpc>
                <a:spcPts val="4480"/>
              </a:lnSpc>
            </a:pPr>
            <a:r>
              <a:rPr lang="en-US" sz="426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Analytics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448" y="3669411"/>
            <a:ext cx="7412736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599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A modern data warehouse built on SQL Server — consolidating CRM and ERP sources through a </a:t>
            </a:r>
            <a:r>
              <a:rPr lang="en-US" sz="1599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Bronze → Silver → Gold</a:t>
            </a:r>
            <a:r>
              <a:rPr lang="en-US" sz="1599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medallion architecture for sales analytics.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1371" y="5018027"/>
            <a:ext cx="1521971" cy="400307"/>
            <a:chOff x="0" y="0"/>
            <a:chExt cx="2029295" cy="5337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9206" cy="533654"/>
            </a:xfrm>
            <a:custGeom>
              <a:avLst/>
              <a:gdLst/>
              <a:ahLst/>
              <a:cxnLst/>
              <a:rect r="r" b="b" t="t" l="l"/>
              <a:pathLst>
                <a:path h="533654" w="2029206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1762379" y="0"/>
                  </a:lnTo>
                  <a:cubicBezTo>
                    <a:pt x="1909826" y="0"/>
                    <a:pt x="2029206" y="119507"/>
                    <a:pt x="2029206" y="266827"/>
                  </a:cubicBezTo>
                  <a:cubicBezTo>
                    <a:pt x="2029206" y="414147"/>
                    <a:pt x="1909699" y="533654"/>
                    <a:pt x="1762379" y="533654"/>
                  </a:cubicBezTo>
                  <a:lnTo>
                    <a:pt x="266827" y="533654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36448" y="5023104"/>
            <a:ext cx="1511808" cy="390144"/>
            <a:chOff x="0" y="0"/>
            <a:chExt cx="2015744" cy="5201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5744" cy="520192"/>
            </a:xfrm>
            <a:custGeom>
              <a:avLst/>
              <a:gdLst/>
              <a:ahLst/>
              <a:cxnLst/>
              <a:rect r="r" b="b" t="t" l="l"/>
              <a:pathLst>
                <a:path h="520192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015744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SERVER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89483" y="5018027"/>
            <a:ext cx="985523" cy="400307"/>
            <a:chOff x="0" y="0"/>
            <a:chExt cx="1314031" cy="5337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3942" cy="533781"/>
            </a:xfrm>
            <a:custGeom>
              <a:avLst/>
              <a:gdLst/>
              <a:ahLst/>
              <a:cxnLst/>
              <a:rect r="r" b="b" t="t" l="l"/>
              <a:pathLst>
                <a:path h="533781" w="1313942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1047115" y="0"/>
                  </a:lnTo>
                  <a:cubicBezTo>
                    <a:pt x="1194562" y="0"/>
                    <a:pt x="1313942" y="119507"/>
                    <a:pt x="1313942" y="266827"/>
                  </a:cubicBezTo>
                  <a:cubicBezTo>
                    <a:pt x="1313942" y="414147"/>
                    <a:pt x="1194562" y="533781"/>
                    <a:pt x="1047115" y="533781"/>
                  </a:cubicBezTo>
                  <a:lnTo>
                    <a:pt x="266827" y="533781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194560" y="5023104"/>
            <a:ext cx="975360" cy="390144"/>
            <a:chOff x="0" y="0"/>
            <a:chExt cx="1300480" cy="520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0480" cy="520192"/>
            </a:xfrm>
            <a:custGeom>
              <a:avLst/>
              <a:gdLst/>
              <a:ahLst/>
              <a:cxnLst/>
              <a:rect r="r" b="b" t="t" l="l"/>
              <a:pathLst>
                <a:path h="520192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00480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11147" y="5018027"/>
            <a:ext cx="1912115" cy="400307"/>
            <a:chOff x="0" y="0"/>
            <a:chExt cx="2549487" cy="5337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9398" cy="533654"/>
            </a:xfrm>
            <a:custGeom>
              <a:avLst/>
              <a:gdLst/>
              <a:ahLst/>
              <a:cxnLst/>
              <a:rect r="r" b="b" t="t" l="l"/>
              <a:pathLst>
                <a:path h="533654" w="2549398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2282571" y="0"/>
                  </a:lnTo>
                  <a:cubicBezTo>
                    <a:pt x="2430018" y="0"/>
                    <a:pt x="2549398" y="119507"/>
                    <a:pt x="2549398" y="266827"/>
                  </a:cubicBezTo>
                  <a:cubicBezTo>
                    <a:pt x="2549398" y="414147"/>
                    <a:pt x="2429891" y="533654"/>
                    <a:pt x="2282571" y="533654"/>
                  </a:cubicBezTo>
                  <a:lnTo>
                    <a:pt x="266827" y="533654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316224" y="5023104"/>
            <a:ext cx="1901952" cy="390144"/>
            <a:chOff x="0" y="0"/>
            <a:chExt cx="2535936" cy="5201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35936" cy="520192"/>
            </a:xfrm>
            <a:custGeom>
              <a:avLst/>
              <a:gdLst/>
              <a:ahLst/>
              <a:cxnLst/>
              <a:rect r="r" b="b" t="t" l="l"/>
              <a:pathLst>
                <a:path h="520192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535936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MODELING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59403" y="5018027"/>
            <a:ext cx="1619507" cy="400307"/>
            <a:chOff x="0" y="0"/>
            <a:chExt cx="2159343" cy="5337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9254" cy="533654"/>
            </a:xfrm>
            <a:custGeom>
              <a:avLst/>
              <a:gdLst/>
              <a:ahLst/>
              <a:cxnLst/>
              <a:rect r="r" b="b" t="t" l="l"/>
              <a:pathLst>
                <a:path h="533654" w="2159254">
                  <a:moveTo>
                    <a:pt x="0" y="266827"/>
                  </a:moveTo>
                  <a:cubicBezTo>
                    <a:pt x="0" y="119507"/>
                    <a:pt x="119507" y="0"/>
                    <a:pt x="266827" y="0"/>
                  </a:cubicBezTo>
                  <a:lnTo>
                    <a:pt x="1892427" y="0"/>
                  </a:lnTo>
                  <a:cubicBezTo>
                    <a:pt x="2039874" y="0"/>
                    <a:pt x="2159254" y="119507"/>
                    <a:pt x="2159254" y="266827"/>
                  </a:cubicBezTo>
                  <a:cubicBezTo>
                    <a:pt x="2159254" y="414147"/>
                    <a:pt x="2039747" y="533654"/>
                    <a:pt x="1892427" y="533654"/>
                  </a:cubicBezTo>
                  <a:lnTo>
                    <a:pt x="266827" y="533654"/>
                  </a:lnTo>
                  <a:cubicBezTo>
                    <a:pt x="119507" y="533781"/>
                    <a:pt x="0" y="414274"/>
                    <a:pt x="0" y="266827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364480" y="5023104"/>
            <a:ext cx="1609344" cy="390144"/>
            <a:chOff x="0" y="0"/>
            <a:chExt cx="2145792" cy="520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5792" cy="520192"/>
            </a:xfrm>
            <a:custGeom>
              <a:avLst/>
              <a:gdLst/>
              <a:ahLst/>
              <a:cxnLst/>
              <a:rect r="r" b="b" t="t" l="l"/>
              <a:pathLst>
                <a:path h="52019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145792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 SCHEMA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6448" y="6681216"/>
            <a:ext cx="2926080" cy="292608"/>
            <a:chOff x="0" y="0"/>
            <a:chExt cx="3901440" cy="390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1440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90144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"/>
                </a:lnSpc>
              </a:pPr>
              <a:r>
                <a:rPr lang="en-US" sz="128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Anna Pauseiro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876800" y="6681216"/>
            <a:ext cx="4340352" cy="292608"/>
            <a:chOff x="0" y="0"/>
            <a:chExt cx="5787136" cy="390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87136" cy="390144"/>
            </a:xfrm>
            <a:custGeom>
              <a:avLst/>
              <a:gdLst/>
              <a:ahLst/>
              <a:cxnLst/>
              <a:rect r="r" b="b" t="t" l="l"/>
              <a:pathLst>
                <a:path h="390144" w="5787136">
                  <a:moveTo>
                    <a:pt x="0" y="0"/>
                  </a:moveTo>
                  <a:lnTo>
                    <a:pt x="5787136" y="0"/>
                  </a:lnTo>
                  <a:lnTo>
                    <a:pt x="5787136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87136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43"/>
                </a:lnSpc>
              </a:pPr>
              <a:r>
                <a:rPr lang="en-US" sz="1119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github.com/annapauseiro/sql-data-warehouse-project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60842" y="6944563"/>
            <a:ext cx="975360" cy="273101"/>
            <a:chOff x="0" y="0"/>
            <a:chExt cx="1300480" cy="3641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/ 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PROJECT REQUIREMENTS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7802880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Two goals, one warehouse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896875"/>
            <a:ext cx="4155443" cy="4496819"/>
            <a:chOff x="0" y="0"/>
            <a:chExt cx="5540591" cy="59957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40629" cy="5995797"/>
            </a:xfrm>
            <a:custGeom>
              <a:avLst/>
              <a:gdLst/>
              <a:ahLst/>
              <a:cxnLst/>
              <a:rect r="r" b="b" t="t" l="l"/>
              <a:pathLst>
                <a:path h="5995797" w="5540629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362" y="0"/>
                  </a:lnTo>
                  <a:cubicBezTo>
                    <a:pt x="5493893" y="0"/>
                    <a:pt x="5540629" y="46736"/>
                    <a:pt x="5540629" y="104267"/>
                  </a:cubicBezTo>
                  <a:lnTo>
                    <a:pt x="5540629" y="5891530"/>
                  </a:lnTo>
                  <a:cubicBezTo>
                    <a:pt x="5540629" y="5949061"/>
                    <a:pt x="5493893" y="5995797"/>
                    <a:pt x="5436362" y="5995797"/>
                  </a:cubicBezTo>
                  <a:lnTo>
                    <a:pt x="104267" y="5995797"/>
                  </a:lnTo>
                  <a:cubicBezTo>
                    <a:pt x="46736" y="5995797"/>
                    <a:pt x="0" y="5949061"/>
                    <a:pt x="0" y="589153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72747" y="2238251"/>
            <a:ext cx="2351027" cy="361293"/>
            <a:chOff x="0" y="0"/>
            <a:chExt cx="3134703" cy="481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4868" cy="481838"/>
            </a:xfrm>
            <a:custGeom>
              <a:avLst/>
              <a:gdLst/>
              <a:ahLst/>
              <a:cxnLst/>
              <a:rect r="r" b="b" t="t" l="l"/>
              <a:pathLst>
                <a:path h="481838" w="3134868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2893949" y="0"/>
                  </a:lnTo>
                  <a:cubicBezTo>
                    <a:pt x="3026918" y="0"/>
                    <a:pt x="3134868" y="107823"/>
                    <a:pt x="3134868" y="240919"/>
                  </a:cubicBezTo>
                  <a:cubicBezTo>
                    <a:pt x="3134868" y="374015"/>
                    <a:pt x="3027045" y="481838"/>
                    <a:pt x="2893949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2243328"/>
            <a:ext cx="2340864" cy="351130"/>
            <a:chOff x="0" y="0"/>
            <a:chExt cx="3121152" cy="4681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21152" cy="468173"/>
            </a:xfrm>
            <a:custGeom>
              <a:avLst/>
              <a:gdLst/>
              <a:ahLst/>
              <a:cxnLst/>
              <a:rect r="r" b="b" t="t" l="l"/>
              <a:pathLst>
                <a:path h="468173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121152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ENGINEERING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7824" y="2828544"/>
            <a:ext cx="3462528" cy="487680"/>
            <a:chOff x="0" y="0"/>
            <a:chExt cx="4616704" cy="650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16704" cy="650240"/>
            </a:xfrm>
            <a:custGeom>
              <a:avLst/>
              <a:gdLst/>
              <a:ahLst/>
              <a:cxnLst/>
              <a:rect r="r" b="b" t="t" l="l"/>
              <a:pathLst>
                <a:path h="650240" w="4616704">
                  <a:moveTo>
                    <a:pt x="0" y="0"/>
                  </a:moveTo>
                  <a:lnTo>
                    <a:pt x="4616704" y="0"/>
                  </a:lnTo>
                  <a:lnTo>
                    <a:pt x="4616704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616704" cy="69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the warehouse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77824" y="3328035"/>
            <a:ext cx="3462528" cy="271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Import CRM &amp; ERP CSV sources, cleanse and resolve data quality issues, then integrate both into one analytics-ready model. Scope is the latest snapshot only — no historization required.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969259" y="1896875"/>
            <a:ext cx="4155443" cy="4496819"/>
            <a:chOff x="0" y="0"/>
            <a:chExt cx="5540591" cy="59957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40629" cy="5995797"/>
            </a:xfrm>
            <a:custGeom>
              <a:avLst/>
              <a:gdLst/>
              <a:ahLst/>
              <a:cxnLst/>
              <a:rect r="r" b="b" t="t" l="l"/>
              <a:pathLst>
                <a:path h="5995797" w="5540629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362" y="0"/>
                  </a:lnTo>
                  <a:cubicBezTo>
                    <a:pt x="5493893" y="0"/>
                    <a:pt x="5540629" y="46736"/>
                    <a:pt x="5540629" y="104267"/>
                  </a:cubicBezTo>
                  <a:lnTo>
                    <a:pt x="5540629" y="5891530"/>
                  </a:lnTo>
                  <a:cubicBezTo>
                    <a:pt x="5540629" y="5949061"/>
                    <a:pt x="5493893" y="5995797"/>
                    <a:pt x="5436362" y="5995797"/>
                  </a:cubicBezTo>
                  <a:lnTo>
                    <a:pt x="104267" y="5995797"/>
                  </a:lnTo>
                  <a:cubicBezTo>
                    <a:pt x="46736" y="5995797"/>
                    <a:pt x="0" y="5949061"/>
                    <a:pt x="0" y="589153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310635" y="2238251"/>
            <a:ext cx="2107187" cy="361293"/>
            <a:chOff x="0" y="0"/>
            <a:chExt cx="2809583" cy="4817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09748" cy="481838"/>
            </a:xfrm>
            <a:custGeom>
              <a:avLst/>
              <a:gdLst/>
              <a:ahLst/>
              <a:cxnLst/>
              <a:rect r="r" b="b" t="t" l="l"/>
              <a:pathLst>
                <a:path h="481838" w="2809748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2568829" y="0"/>
                  </a:lnTo>
                  <a:cubicBezTo>
                    <a:pt x="2701798" y="0"/>
                    <a:pt x="2809748" y="107823"/>
                    <a:pt x="2809748" y="240919"/>
                  </a:cubicBezTo>
                  <a:cubicBezTo>
                    <a:pt x="2809748" y="374015"/>
                    <a:pt x="2701925" y="481838"/>
                    <a:pt x="2568829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315712" y="2243328"/>
            <a:ext cx="2097024" cy="351130"/>
            <a:chOff x="0" y="0"/>
            <a:chExt cx="2796032" cy="468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96032" cy="468173"/>
            </a:xfrm>
            <a:custGeom>
              <a:avLst/>
              <a:gdLst/>
              <a:ahLst/>
              <a:cxnLst/>
              <a:rect r="r" b="b" t="t" l="l"/>
              <a:pathLst>
                <a:path h="468173" w="2796032">
                  <a:moveTo>
                    <a:pt x="0" y="0"/>
                  </a:moveTo>
                  <a:lnTo>
                    <a:pt x="2796032" y="0"/>
                  </a:lnTo>
                  <a:lnTo>
                    <a:pt x="2796032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796032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 &amp; ANALYTICS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15712" y="2828544"/>
            <a:ext cx="3462528" cy="487680"/>
            <a:chOff x="0" y="0"/>
            <a:chExt cx="4616704" cy="65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16704" cy="650240"/>
            </a:xfrm>
            <a:custGeom>
              <a:avLst/>
              <a:gdLst/>
              <a:ahLst/>
              <a:cxnLst/>
              <a:rect r="r" b="b" t="t" l="l"/>
              <a:pathLst>
                <a:path h="650240" w="4616704">
                  <a:moveTo>
                    <a:pt x="0" y="0"/>
                  </a:moveTo>
                  <a:lnTo>
                    <a:pt x="4616704" y="0"/>
                  </a:lnTo>
                  <a:lnTo>
                    <a:pt x="4616704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616704" cy="69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F4F6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 insight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315712" y="3328035"/>
            <a:ext cx="3462528" cy="271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SQL-based analytics covering customer behavior, product performance and sales trends — giving stakeholders the metrics to make strategic decisions.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DATA ARCHITECTURE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7802880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Medallion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994411"/>
            <a:ext cx="2302259" cy="2838707"/>
            <a:chOff x="0" y="0"/>
            <a:chExt cx="3069679" cy="3784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69717" cy="3784981"/>
            </a:xfrm>
            <a:custGeom>
              <a:avLst/>
              <a:gdLst/>
              <a:ahLst/>
              <a:cxnLst/>
              <a:rect r="r" b="b" t="t" l="l"/>
              <a:pathLst>
                <a:path h="3784981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680460"/>
                  </a:lnTo>
                  <a:cubicBezTo>
                    <a:pt x="3069717" y="3738118"/>
                    <a:pt x="3022981" y="3784981"/>
                    <a:pt x="2965196" y="3784981"/>
                  </a:cubicBezTo>
                  <a:lnTo>
                    <a:pt x="104521" y="3784981"/>
                  </a:lnTo>
                  <a:cubicBezTo>
                    <a:pt x="46863" y="3784981"/>
                    <a:pt x="0" y="3738245"/>
                    <a:pt x="0" y="368046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75211" y="2287019"/>
            <a:ext cx="1570739" cy="361293"/>
            <a:chOff x="0" y="0"/>
            <a:chExt cx="2094319" cy="481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4357" cy="481838"/>
            </a:xfrm>
            <a:custGeom>
              <a:avLst/>
              <a:gdLst/>
              <a:ahLst/>
              <a:cxnLst/>
              <a:rect r="r" b="b" t="t" l="l"/>
              <a:pathLst>
                <a:path h="481838" w="2094357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1853438" y="0"/>
                  </a:lnTo>
                  <a:cubicBezTo>
                    <a:pt x="1986407" y="0"/>
                    <a:pt x="2094357" y="107823"/>
                    <a:pt x="2094357" y="240919"/>
                  </a:cubicBezTo>
                  <a:cubicBezTo>
                    <a:pt x="2094357" y="374015"/>
                    <a:pt x="1986534" y="481838"/>
                    <a:pt x="1853438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C08A55">
                <a:alpha val="3137"/>
              </a:srgbClr>
            </a:solidFill>
            <a:ln w="10160" cap="sq">
              <a:solidFill>
                <a:srgbClr val="C08A55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80288" y="2292096"/>
            <a:ext cx="1560576" cy="351130"/>
            <a:chOff x="0" y="0"/>
            <a:chExt cx="2080768" cy="4681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0768" cy="468173"/>
            </a:xfrm>
            <a:custGeom>
              <a:avLst/>
              <a:gdLst/>
              <a:ahLst/>
              <a:cxnLst/>
              <a:rect r="r" b="b" t="t" l="l"/>
              <a:pathLst>
                <a:path h="468173" w="2080768">
                  <a:moveTo>
                    <a:pt x="0" y="0"/>
                  </a:moveTo>
                  <a:lnTo>
                    <a:pt x="2080768" y="0"/>
                  </a:lnTo>
                  <a:lnTo>
                    <a:pt x="2080768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80768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E3B9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BRONZE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0288" y="2849880"/>
            <a:ext cx="1804416" cy="173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280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Raw data, as-is from source CSVs. No transformations.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828544" y="3169920"/>
            <a:ext cx="536448" cy="487680"/>
            <a:chOff x="0" y="0"/>
            <a:chExt cx="715264" cy="65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5264" cy="650240"/>
            </a:xfrm>
            <a:custGeom>
              <a:avLst/>
              <a:gdLst/>
              <a:ahLst/>
              <a:cxnLst/>
              <a:rect r="r" b="b" t="t" l="l"/>
              <a:pathLst>
                <a:path h="650240" w="715264">
                  <a:moveTo>
                    <a:pt x="0" y="0"/>
                  </a:moveTo>
                  <a:lnTo>
                    <a:pt x="715264" y="0"/>
                  </a:lnTo>
                  <a:lnTo>
                    <a:pt x="715264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15264" cy="69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59915" y="1994411"/>
            <a:ext cx="2302259" cy="2838707"/>
            <a:chOff x="0" y="0"/>
            <a:chExt cx="3069679" cy="37849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69717" cy="3784981"/>
            </a:xfrm>
            <a:custGeom>
              <a:avLst/>
              <a:gdLst/>
              <a:ahLst/>
              <a:cxnLst/>
              <a:rect r="r" b="b" t="t" l="l"/>
              <a:pathLst>
                <a:path h="3784981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680460"/>
                  </a:lnTo>
                  <a:cubicBezTo>
                    <a:pt x="3069717" y="3738118"/>
                    <a:pt x="3022981" y="3784981"/>
                    <a:pt x="2965196" y="3784981"/>
                  </a:cubicBezTo>
                  <a:lnTo>
                    <a:pt x="104521" y="3784981"/>
                  </a:lnTo>
                  <a:cubicBezTo>
                    <a:pt x="46863" y="3784981"/>
                    <a:pt x="0" y="3738245"/>
                    <a:pt x="0" y="368046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603755" y="2287019"/>
            <a:ext cx="1570739" cy="361293"/>
            <a:chOff x="0" y="0"/>
            <a:chExt cx="2094319" cy="4817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4357" cy="481838"/>
            </a:xfrm>
            <a:custGeom>
              <a:avLst/>
              <a:gdLst/>
              <a:ahLst/>
              <a:cxnLst/>
              <a:rect r="r" b="b" t="t" l="l"/>
              <a:pathLst>
                <a:path h="481838" w="2094357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1853438" y="0"/>
                  </a:lnTo>
                  <a:cubicBezTo>
                    <a:pt x="1986407" y="0"/>
                    <a:pt x="2094357" y="107823"/>
                    <a:pt x="2094357" y="240919"/>
                  </a:cubicBezTo>
                  <a:cubicBezTo>
                    <a:pt x="2094357" y="374015"/>
                    <a:pt x="1986534" y="481838"/>
                    <a:pt x="1853438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608832" y="2292096"/>
            <a:ext cx="1560576" cy="351130"/>
            <a:chOff x="0" y="0"/>
            <a:chExt cx="2080768" cy="468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0768" cy="468173"/>
            </a:xfrm>
            <a:custGeom>
              <a:avLst/>
              <a:gdLst/>
              <a:ahLst/>
              <a:cxnLst/>
              <a:rect r="r" b="b" t="t" l="l"/>
              <a:pathLst>
                <a:path h="468173" w="2080768">
                  <a:moveTo>
                    <a:pt x="0" y="0"/>
                  </a:moveTo>
                  <a:lnTo>
                    <a:pt x="2080768" y="0"/>
                  </a:lnTo>
                  <a:lnTo>
                    <a:pt x="2080768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080768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SILVER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608832" y="2849880"/>
            <a:ext cx="1804416" cy="173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280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Cleansed, standardized, deduplicated &amp; business-ruled.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657088" y="3169920"/>
            <a:ext cx="536448" cy="487680"/>
            <a:chOff x="0" y="0"/>
            <a:chExt cx="715264" cy="65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264" cy="650240"/>
            </a:xfrm>
            <a:custGeom>
              <a:avLst/>
              <a:gdLst/>
              <a:ahLst/>
              <a:cxnLst/>
              <a:rect r="r" b="b" t="t" l="l"/>
              <a:pathLst>
                <a:path h="650240" w="715264">
                  <a:moveTo>
                    <a:pt x="0" y="0"/>
                  </a:moveTo>
                  <a:lnTo>
                    <a:pt x="715264" y="0"/>
                  </a:lnTo>
                  <a:lnTo>
                    <a:pt x="715264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15264" cy="69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88459" y="1994411"/>
            <a:ext cx="2302259" cy="2838707"/>
            <a:chOff x="0" y="0"/>
            <a:chExt cx="3069679" cy="3784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69717" cy="3784981"/>
            </a:xfrm>
            <a:custGeom>
              <a:avLst/>
              <a:gdLst/>
              <a:ahLst/>
              <a:cxnLst/>
              <a:rect r="r" b="b" t="t" l="l"/>
              <a:pathLst>
                <a:path h="3784981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680460"/>
                  </a:lnTo>
                  <a:cubicBezTo>
                    <a:pt x="3069717" y="3738118"/>
                    <a:pt x="3022981" y="3784981"/>
                    <a:pt x="2965196" y="3784981"/>
                  </a:cubicBezTo>
                  <a:lnTo>
                    <a:pt x="104521" y="3784981"/>
                  </a:lnTo>
                  <a:cubicBezTo>
                    <a:pt x="46863" y="3784981"/>
                    <a:pt x="0" y="3738245"/>
                    <a:pt x="0" y="3680460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432299" y="2287019"/>
            <a:ext cx="1570739" cy="361293"/>
            <a:chOff x="0" y="0"/>
            <a:chExt cx="2094319" cy="4817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4357" cy="481838"/>
            </a:xfrm>
            <a:custGeom>
              <a:avLst/>
              <a:gdLst/>
              <a:ahLst/>
              <a:cxnLst/>
              <a:rect r="r" b="b" t="t" l="l"/>
              <a:pathLst>
                <a:path h="481838" w="2094357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1853438" y="0"/>
                  </a:lnTo>
                  <a:cubicBezTo>
                    <a:pt x="1986407" y="0"/>
                    <a:pt x="2094357" y="107823"/>
                    <a:pt x="2094357" y="240919"/>
                  </a:cubicBezTo>
                  <a:cubicBezTo>
                    <a:pt x="2094357" y="374015"/>
                    <a:pt x="1986534" y="481838"/>
                    <a:pt x="1853438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437376" y="2292096"/>
            <a:ext cx="1560576" cy="351130"/>
            <a:chOff x="0" y="0"/>
            <a:chExt cx="2080768" cy="4681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80768" cy="468173"/>
            </a:xfrm>
            <a:custGeom>
              <a:avLst/>
              <a:gdLst/>
              <a:ahLst/>
              <a:cxnLst/>
              <a:rect r="r" b="b" t="t" l="l"/>
              <a:pathLst>
                <a:path h="468173" w="2080768">
                  <a:moveTo>
                    <a:pt x="0" y="0"/>
                  </a:moveTo>
                  <a:lnTo>
                    <a:pt x="2080768" y="0"/>
                  </a:lnTo>
                  <a:lnTo>
                    <a:pt x="2080768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080768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GOLD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437376" y="2849880"/>
            <a:ext cx="1804416" cy="173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280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Business-ready star schema, exposed as views.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6448" y="5132451"/>
            <a:ext cx="8680704" cy="86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Sources: </a:t>
            </a:r>
            <a:r>
              <a:rPr lang="en-US" sz="1386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CRM</a:t>
            </a: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(customers, products, sales) &amp; </a:t>
            </a:r>
            <a:r>
              <a:rPr lang="en-US" sz="1386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ERP</a:t>
            </a: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(location, birthdate, category) CSV files → SQL Server → BI &amp; reporting.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REPOSITORY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7802880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What's inside the repo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896875"/>
            <a:ext cx="4935731" cy="4496819"/>
            <a:chOff x="0" y="0"/>
            <a:chExt cx="6580975" cy="59957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81013" cy="5995797"/>
            </a:xfrm>
            <a:custGeom>
              <a:avLst/>
              <a:gdLst/>
              <a:ahLst/>
              <a:cxnLst/>
              <a:rect r="r" b="b" t="t" l="l"/>
              <a:pathLst>
                <a:path h="5995797" w="6581013">
                  <a:moveTo>
                    <a:pt x="0" y="0"/>
                  </a:moveTo>
                  <a:lnTo>
                    <a:pt x="6581013" y="0"/>
                  </a:lnTo>
                  <a:lnTo>
                    <a:pt x="6581013" y="5995797"/>
                  </a:lnTo>
                  <a:lnTo>
                    <a:pt x="0" y="5995797"/>
                  </a:lnTo>
                  <a:close/>
                </a:path>
              </a:pathLst>
            </a:custGeom>
            <a:solidFill>
              <a:srgbClr val="04080F">
                <a:alpha val="48627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6580975" cy="602433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ECC7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sql-data-warehouse-project/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datasets/   </a:t>
              </a:r>
              <a:r>
                <a:rPr lang="en-US" sz="1119" i="true">
                  <a:solidFill>
                    <a:srgbClr val="7C8CAE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-- CRM/ERP CSVs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docs/       </a:t>
              </a:r>
              <a:r>
                <a:rPr lang="en-US" sz="1119" i="true">
                  <a:solidFill>
                    <a:srgbClr val="7C8CAE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-- architecture diagrams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scripts/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├── init_database.sql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├── bronze/  ddl_bronze.sql, proc_load_bronze.sql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├── silver/  ddl_silver.sql, proc_load_silver.sql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  └── gold/    ddl_gold.sql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testes/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├── quality_checks_silver.sql</a:t>
              </a:r>
            </a:p>
            <a:p>
              <a:pPr algn="l">
                <a:lnSpc>
                  <a:spcPts val="1585"/>
                </a:lnSpc>
              </a:pPr>
            </a:p>
            <a:p>
              <a:pPr algn="l">
                <a:lnSpc>
                  <a:spcPts val="1585"/>
                </a:lnSpc>
              </a:pPr>
              <a:r>
                <a:rPr lang="en-US" sz="1119">
                  <a:solidFill>
                    <a:srgbClr val="C7D3E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└── quality_checks_gold.sql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52011" y="1896875"/>
            <a:ext cx="3618995" cy="2107187"/>
            <a:chOff x="0" y="0"/>
            <a:chExt cx="4825327" cy="2809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5238" cy="2809494"/>
            </a:xfrm>
            <a:custGeom>
              <a:avLst/>
              <a:gdLst/>
              <a:ahLst/>
              <a:cxnLst/>
              <a:rect r="r" b="b" t="t" l="l"/>
              <a:pathLst>
                <a:path h="2809494" w="4825238">
                  <a:moveTo>
                    <a:pt x="0" y="104521"/>
                  </a:moveTo>
                  <a:cubicBezTo>
                    <a:pt x="0" y="46863"/>
                    <a:pt x="46863" y="0"/>
                    <a:pt x="104521" y="0"/>
                  </a:cubicBezTo>
                  <a:lnTo>
                    <a:pt x="4720717" y="0"/>
                  </a:lnTo>
                  <a:cubicBezTo>
                    <a:pt x="4778502" y="0"/>
                    <a:pt x="4825238" y="46863"/>
                    <a:pt x="4825238" y="104521"/>
                  </a:cubicBezTo>
                  <a:lnTo>
                    <a:pt x="4825238" y="2704973"/>
                  </a:lnTo>
                  <a:cubicBezTo>
                    <a:pt x="4825238" y="2762758"/>
                    <a:pt x="4778375" y="2809494"/>
                    <a:pt x="4720717" y="2809494"/>
                  </a:cubicBezTo>
                  <a:lnTo>
                    <a:pt x="104521" y="2809494"/>
                  </a:lnTo>
                  <a:cubicBezTo>
                    <a:pt x="46736" y="2809494"/>
                    <a:pt x="0" y="2762631"/>
                    <a:pt x="0" y="2704973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949696" y="2145792"/>
            <a:ext cx="3023616" cy="390144"/>
            <a:chOff x="0" y="0"/>
            <a:chExt cx="4031488" cy="520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31488" cy="520192"/>
            </a:xfrm>
            <a:custGeom>
              <a:avLst/>
              <a:gdLst/>
              <a:ahLst/>
              <a:cxnLst/>
              <a:rect r="r" b="b" t="t" l="l"/>
              <a:pathLst>
                <a:path h="520192" w="4031488">
                  <a:moveTo>
                    <a:pt x="0" y="0"/>
                  </a:moveTo>
                  <a:lnTo>
                    <a:pt x="4031488" y="0"/>
                  </a:lnTo>
                  <a:lnTo>
                    <a:pt x="403148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031488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SQL scripts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49696" y="2508504"/>
            <a:ext cx="3023616" cy="134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280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drive the full pipeline: schema setup, ETL loads, view definitions &amp; QA checks.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652011" y="4188971"/>
            <a:ext cx="3618995" cy="2204723"/>
            <a:chOff x="0" y="0"/>
            <a:chExt cx="4825327" cy="29396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5365" cy="2939542"/>
            </a:xfrm>
            <a:custGeom>
              <a:avLst/>
              <a:gdLst/>
              <a:ahLst/>
              <a:cxnLst/>
              <a:rect r="r" b="b" t="t" l="l"/>
              <a:pathLst>
                <a:path h="2939542" w="4825365">
                  <a:moveTo>
                    <a:pt x="0" y="104521"/>
                  </a:moveTo>
                  <a:cubicBezTo>
                    <a:pt x="0" y="46863"/>
                    <a:pt x="46863" y="0"/>
                    <a:pt x="104521" y="0"/>
                  </a:cubicBezTo>
                  <a:lnTo>
                    <a:pt x="4720844" y="0"/>
                  </a:lnTo>
                  <a:cubicBezTo>
                    <a:pt x="4778629" y="0"/>
                    <a:pt x="4825365" y="46863"/>
                    <a:pt x="4825365" y="104521"/>
                  </a:cubicBezTo>
                  <a:lnTo>
                    <a:pt x="4825365" y="2835021"/>
                  </a:lnTo>
                  <a:cubicBezTo>
                    <a:pt x="4825365" y="2892806"/>
                    <a:pt x="4778502" y="2939542"/>
                    <a:pt x="4720844" y="2939542"/>
                  </a:cubicBezTo>
                  <a:lnTo>
                    <a:pt x="104521" y="2939542"/>
                  </a:lnTo>
                  <a:cubicBezTo>
                    <a:pt x="46736" y="2939542"/>
                    <a:pt x="0" y="2892679"/>
                    <a:pt x="0" y="2835021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949696" y="4437888"/>
            <a:ext cx="3023616" cy="390144"/>
            <a:chOff x="0" y="0"/>
            <a:chExt cx="4031488" cy="5201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31488" cy="520192"/>
            </a:xfrm>
            <a:custGeom>
              <a:avLst/>
              <a:gdLst/>
              <a:ahLst/>
              <a:cxnLst/>
              <a:rect r="r" b="b" t="t" l="l"/>
              <a:pathLst>
                <a:path h="520192" w="4031488">
                  <a:moveTo>
                    <a:pt x="0" y="0"/>
                  </a:moveTo>
                  <a:lnTo>
                    <a:pt x="4031488" y="0"/>
                  </a:lnTo>
                  <a:lnTo>
                    <a:pt x="403148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031488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Also included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49696" y="4800600"/>
            <a:ext cx="3023616" cy="144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280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Data catalog docs, draw.io architecture diagram, and raw CRM/ERP sample datasets.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GOLD LAYER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10006"/>
            <a:ext cx="8290560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986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analytics-ready star schema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2091947"/>
            <a:ext cx="2302259" cy="2448563"/>
            <a:chOff x="0" y="0"/>
            <a:chExt cx="3069679" cy="32647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69717" cy="3264789"/>
            </a:xfrm>
            <a:custGeom>
              <a:avLst/>
              <a:gdLst/>
              <a:ahLst/>
              <a:cxnLst/>
              <a:rect r="r" b="b" t="t" l="l"/>
              <a:pathLst>
                <a:path h="3264789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160268"/>
                  </a:lnTo>
                  <a:cubicBezTo>
                    <a:pt x="3069717" y="3217926"/>
                    <a:pt x="3022981" y="3264789"/>
                    <a:pt x="2965196" y="3264789"/>
                  </a:cubicBezTo>
                  <a:lnTo>
                    <a:pt x="104521" y="3264789"/>
                  </a:lnTo>
                  <a:cubicBezTo>
                    <a:pt x="46863" y="3264789"/>
                    <a:pt x="0" y="3218053"/>
                    <a:pt x="0" y="3160268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26443" y="2365048"/>
            <a:ext cx="1912115" cy="341786"/>
            <a:chOff x="0" y="0"/>
            <a:chExt cx="2549487" cy="4557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9525" cy="455676"/>
            </a:xfrm>
            <a:custGeom>
              <a:avLst/>
              <a:gdLst/>
              <a:ahLst/>
              <a:cxnLst/>
              <a:rect r="r" b="b" t="t" l="l"/>
              <a:pathLst>
                <a:path h="455676" w="2549525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2321687" y="0"/>
                  </a:lnTo>
                  <a:cubicBezTo>
                    <a:pt x="2447544" y="0"/>
                    <a:pt x="2549525" y="101981"/>
                    <a:pt x="2549525" y="227838"/>
                  </a:cubicBezTo>
                  <a:cubicBezTo>
                    <a:pt x="2549525" y="353695"/>
                    <a:pt x="2447544" y="455676"/>
                    <a:pt x="2321687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370125"/>
            <a:ext cx="1901952" cy="331622"/>
            <a:chOff x="0" y="0"/>
            <a:chExt cx="2535936" cy="442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5936" cy="442163"/>
            </a:xfrm>
            <a:custGeom>
              <a:avLst/>
              <a:gdLst/>
              <a:ahLst/>
              <a:cxnLst/>
              <a:rect r="r" b="b" t="t" l="l"/>
              <a:pathLst>
                <a:path h="442163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535936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DIMENSION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926080"/>
            <a:ext cx="1901952" cy="438912"/>
            <a:chOff x="0" y="0"/>
            <a:chExt cx="2535936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5936" cy="585216"/>
            </a:xfrm>
            <a:custGeom>
              <a:avLst/>
              <a:gdLst/>
              <a:ahLst/>
              <a:cxnLst/>
              <a:rect r="r" b="b" t="t" l="l"/>
              <a:pathLst>
                <a:path h="585216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53593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F4F6F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gold.dim_customers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31520" y="3337560"/>
            <a:ext cx="1901952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119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Identity, country, marital status, gender &amp; birthdate — merged from CRM + ERP.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828544" y="3101645"/>
            <a:ext cx="487680" cy="429158"/>
            <a:chOff x="0" y="0"/>
            <a:chExt cx="650240" cy="5722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0240" cy="572211"/>
            </a:xfrm>
            <a:custGeom>
              <a:avLst/>
              <a:gdLst/>
              <a:ahLst/>
              <a:cxnLst/>
              <a:rect r="r" b="b" t="t" l="l"/>
              <a:pathLst>
                <a:path h="572211" w="650240">
                  <a:moveTo>
                    <a:pt x="0" y="0"/>
                  </a:moveTo>
                  <a:lnTo>
                    <a:pt x="650240" y="0"/>
                  </a:lnTo>
                  <a:lnTo>
                    <a:pt x="650240" y="572211"/>
                  </a:lnTo>
                  <a:lnTo>
                    <a:pt x="0" y="572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907" t="0" r="-6290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50240" cy="619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⇄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11147" y="1945643"/>
            <a:ext cx="2692403" cy="2741171"/>
            <a:chOff x="0" y="0"/>
            <a:chExt cx="3589871" cy="36548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89782" cy="3654806"/>
            </a:xfrm>
            <a:custGeom>
              <a:avLst/>
              <a:gdLst/>
              <a:ahLst/>
              <a:cxnLst/>
              <a:rect r="r" b="b" t="t" l="l"/>
              <a:pathLst>
                <a:path h="3654806" w="3589782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485388" y="0"/>
                  </a:lnTo>
                  <a:cubicBezTo>
                    <a:pt x="3543046" y="0"/>
                    <a:pt x="3589782" y="46736"/>
                    <a:pt x="3589782" y="104394"/>
                  </a:cubicBezTo>
                  <a:lnTo>
                    <a:pt x="3589782" y="3550412"/>
                  </a:lnTo>
                  <a:cubicBezTo>
                    <a:pt x="3589782" y="3608070"/>
                    <a:pt x="3543046" y="3654806"/>
                    <a:pt x="3485388" y="3654806"/>
                  </a:cubicBezTo>
                  <a:lnTo>
                    <a:pt x="104394" y="3654806"/>
                  </a:lnTo>
                  <a:cubicBezTo>
                    <a:pt x="46736" y="3654806"/>
                    <a:pt x="0" y="3608070"/>
                    <a:pt x="0" y="3550412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307756" y="1942252"/>
            <a:ext cx="2699175" cy="2747943"/>
            <a:chOff x="0" y="0"/>
            <a:chExt cx="3598901" cy="36639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98799" cy="3663823"/>
            </a:xfrm>
            <a:custGeom>
              <a:avLst/>
              <a:gdLst/>
              <a:ahLst/>
              <a:cxnLst/>
              <a:rect r="r" b="b" t="t" l="l"/>
              <a:pathLst>
                <a:path h="3663823" w="3598799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3494151" y="0"/>
                  </a:lnTo>
                  <a:cubicBezTo>
                    <a:pt x="3551936" y="0"/>
                    <a:pt x="3598799" y="46863"/>
                    <a:pt x="3598799" y="104648"/>
                  </a:cubicBezTo>
                  <a:lnTo>
                    <a:pt x="3598799" y="3559175"/>
                  </a:lnTo>
                  <a:cubicBezTo>
                    <a:pt x="3598799" y="3616960"/>
                    <a:pt x="3551936" y="3663823"/>
                    <a:pt x="3494151" y="3663823"/>
                  </a:cubicBezTo>
                  <a:lnTo>
                    <a:pt x="104648" y="3663823"/>
                  </a:lnTo>
                  <a:cubicBezTo>
                    <a:pt x="46863" y="3663823"/>
                    <a:pt x="0" y="3616960"/>
                    <a:pt x="0" y="3559175"/>
                  </a:cubicBezTo>
                  <a:close/>
                </a:path>
              </a:pathLst>
            </a:custGeom>
            <a:solidFill>
              <a:srgbClr val="D9A94E">
                <a:alpha val="0"/>
              </a:srgbClr>
            </a:solidFill>
            <a:ln w="16933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554987" y="2238251"/>
            <a:ext cx="985523" cy="341786"/>
            <a:chOff x="0" y="0"/>
            <a:chExt cx="1314031" cy="4557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4069" cy="455676"/>
            </a:xfrm>
            <a:custGeom>
              <a:avLst/>
              <a:gdLst/>
              <a:ahLst/>
              <a:cxnLst/>
              <a:rect r="r" b="b" t="t" l="l"/>
              <a:pathLst>
                <a:path h="455676" w="1314069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1086231" y="0"/>
                  </a:lnTo>
                  <a:cubicBezTo>
                    <a:pt x="1212088" y="0"/>
                    <a:pt x="1314069" y="101981"/>
                    <a:pt x="1314069" y="227838"/>
                  </a:cubicBezTo>
                  <a:cubicBezTo>
                    <a:pt x="1314069" y="353695"/>
                    <a:pt x="1211961" y="455676"/>
                    <a:pt x="1086231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560064" y="2243328"/>
            <a:ext cx="975360" cy="331622"/>
            <a:chOff x="0" y="0"/>
            <a:chExt cx="1300480" cy="4421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0480" cy="442163"/>
            </a:xfrm>
            <a:custGeom>
              <a:avLst/>
              <a:gdLst/>
              <a:ahLst/>
              <a:cxnLst/>
              <a:rect r="r" b="b" t="t" l="l"/>
              <a:pathLst>
                <a:path h="442163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300480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560064" y="2799283"/>
            <a:ext cx="2194560" cy="438912"/>
            <a:chOff x="0" y="0"/>
            <a:chExt cx="29260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9260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 b="true">
                  <a:solidFill>
                    <a:srgbClr val="F4F6F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gold.fact_sales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560064" y="3240024"/>
            <a:ext cx="2194560" cy="134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119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One row per order line: dates, sales amount, quantity &amp; price, keyed to both dimensions.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998464" y="3101645"/>
            <a:ext cx="487680" cy="429158"/>
            <a:chOff x="0" y="0"/>
            <a:chExt cx="650240" cy="5722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0240" cy="572211"/>
            </a:xfrm>
            <a:custGeom>
              <a:avLst/>
              <a:gdLst/>
              <a:ahLst/>
              <a:cxnLst/>
              <a:rect r="r" b="b" t="t" l="l"/>
              <a:pathLst>
                <a:path h="572211" w="650240">
                  <a:moveTo>
                    <a:pt x="0" y="0"/>
                  </a:moveTo>
                  <a:lnTo>
                    <a:pt x="650240" y="0"/>
                  </a:lnTo>
                  <a:lnTo>
                    <a:pt x="650240" y="572211"/>
                  </a:lnTo>
                  <a:lnTo>
                    <a:pt x="0" y="572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907" t="0" r="-6290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50240" cy="619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9"/>
                </a:lnSpc>
              </a:pPr>
              <a:r>
                <a:rPr lang="en-US" sz="213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⇄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81067" y="2091947"/>
            <a:ext cx="2302259" cy="2448563"/>
            <a:chOff x="0" y="0"/>
            <a:chExt cx="3069679" cy="32647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69717" cy="3264789"/>
            </a:xfrm>
            <a:custGeom>
              <a:avLst/>
              <a:gdLst/>
              <a:ahLst/>
              <a:cxnLst/>
              <a:rect r="r" b="b" t="t" l="l"/>
              <a:pathLst>
                <a:path h="3264789" w="3069717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2965196" y="0"/>
                  </a:lnTo>
                  <a:cubicBezTo>
                    <a:pt x="3022854" y="0"/>
                    <a:pt x="3069717" y="46736"/>
                    <a:pt x="3069717" y="104521"/>
                  </a:cubicBezTo>
                  <a:lnTo>
                    <a:pt x="3069717" y="3160268"/>
                  </a:lnTo>
                  <a:cubicBezTo>
                    <a:pt x="3069717" y="3217926"/>
                    <a:pt x="3022981" y="3264789"/>
                    <a:pt x="2965196" y="3264789"/>
                  </a:cubicBezTo>
                  <a:lnTo>
                    <a:pt x="104521" y="3264789"/>
                  </a:lnTo>
                  <a:cubicBezTo>
                    <a:pt x="46863" y="3264789"/>
                    <a:pt x="0" y="3218053"/>
                    <a:pt x="0" y="3160268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676139" y="2365048"/>
            <a:ext cx="1912115" cy="341786"/>
            <a:chOff x="0" y="0"/>
            <a:chExt cx="2549487" cy="45571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49525" cy="455676"/>
            </a:xfrm>
            <a:custGeom>
              <a:avLst/>
              <a:gdLst/>
              <a:ahLst/>
              <a:cxnLst/>
              <a:rect r="r" b="b" t="t" l="l"/>
              <a:pathLst>
                <a:path h="455676" w="2549525">
                  <a:moveTo>
                    <a:pt x="0" y="227838"/>
                  </a:moveTo>
                  <a:cubicBezTo>
                    <a:pt x="0" y="101981"/>
                    <a:pt x="101981" y="0"/>
                    <a:pt x="227838" y="0"/>
                  </a:cubicBezTo>
                  <a:lnTo>
                    <a:pt x="2321687" y="0"/>
                  </a:lnTo>
                  <a:cubicBezTo>
                    <a:pt x="2447544" y="0"/>
                    <a:pt x="2549525" y="101981"/>
                    <a:pt x="2549525" y="227838"/>
                  </a:cubicBezTo>
                  <a:cubicBezTo>
                    <a:pt x="2549525" y="353695"/>
                    <a:pt x="2447544" y="455676"/>
                    <a:pt x="2321687" y="455676"/>
                  </a:cubicBezTo>
                  <a:lnTo>
                    <a:pt x="227838" y="455676"/>
                  </a:lnTo>
                  <a:cubicBezTo>
                    <a:pt x="101981" y="455676"/>
                    <a:pt x="0" y="353695"/>
                    <a:pt x="0" y="227838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681216" y="2370125"/>
            <a:ext cx="1901952" cy="331622"/>
            <a:chOff x="0" y="0"/>
            <a:chExt cx="2535936" cy="4421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35936" cy="442163"/>
            </a:xfrm>
            <a:custGeom>
              <a:avLst/>
              <a:gdLst/>
              <a:ahLst/>
              <a:cxnLst/>
              <a:rect r="r" b="b" t="t" l="l"/>
              <a:pathLst>
                <a:path h="442163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535936" cy="470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DIMENSION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81216" y="2926080"/>
            <a:ext cx="1901952" cy="438912"/>
            <a:chOff x="0" y="0"/>
            <a:chExt cx="2535936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35936" cy="585216"/>
            </a:xfrm>
            <a:custGeom>
              <a:avLst/>
              <a:gdLst/>
              <a:ahLst/>
              <a:cxnLst/>
              <a:rect r="r" b="b" t="t" l="l"/>
              <a:pathLst>
                <a:path h="585216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53593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F4F6F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gold.dim_products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681216" y="3337560"/>
            <a:ext cx="1901952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119">
                <a:solidFill>
                  <a:srgbClr val="7C8CAE"/>
                </a:solidFill>
                <a:latin typeface="Calibri (MS)"/>
                <a:ea typeface="Calibri (MS)"/>
                <a:cs typeface="Calibri (MS)"/>
                <a:sym typeface="Calibri (MS)"/>
              </a:rPr>
              <a:t>Name, category, subcategory &amp; cost — current products only, historical rows filtered out.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36448" y="4937379"/>
            <a:ext cx="8680704" cy="86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All three are </a:t>
            </a:r>
            <a:r>
              <a:rPr lang="en-US" sz="1386" b="true">
                <a:solidFill>
                  <a:srgbClr val="C7D3E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views</a:t>
            </a:r>
            <a:r>
              <a:rPr lang="en-US" sz="1386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 over the Silver layer, with surrogate keys generated on the fly — ready to query directly for reporting.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448" y="487680"/>
            <a:ext cx="5852160" cy="312115"/>
            <a:chOff x="0" y="0"/>
            <a:chExt cx="7802880" cy="41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2880" cy="416154"/>
            </a:xfrm>
            <a:custGeom>
              <a:avLst/>
              <a:gdLst/>
              <a:ahLst/>
              <a:cxnLst/>
              <a:rect r="r" b="b" t="t" l="l"/>
              <a:pathLst>
                <a:path h="41615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16154"/>
                  </a:lnTo>
                  <a:lnTo>
                    <a:pt x="0" y="416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802880" cy="43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b="true" sz="1173" spc="213">
                  <a:solidFill>
                    <a:srgbClr val="ECC7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SUMMARY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36448" y="800481"/>
            <a:ext cx="8485632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773" b="true">
                <a:solidFill>
                  <a:srgbClr val="F4F6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End-to-end, production-style warehouse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371" y="1945643"/>
            <a:ext cx="4155443" cy="3521459"/>
            <a:chOff x="0" y="0"/>
            <a:chExt cx="5540591" cy="46952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40502" cy="4695190"/>
            </a:xfrm>
            <a:custGeom>
              <a:avLst/>
              <a:gdLst/>
              <a:ahLst/>
              <a:cxnLst/>
              <a:rect r="r" b="b" t="t" l="l"/>
              <a:pathLst>
                <a:path h="4695190" w="5540502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235" y="0"/>
                  </a:lnTo>
                  <a:cubicBezTo>
                    <a:pt x="5493893" y="0"/>
                    <a:pt x="5540502" y="46736"/>
                    <a:pt x="5540502" y="104267"/>
                  </a:cubicBezTo>
                  <a:lnTo>
                    <a:pt x="5540502" y="4590923"/>
                  </a:lnTo>
                  <a:cubicBezTo>
                    <a:pt x="5540502" y="4648581"/>
                    <a:pt x="5493766" y="4695190"/>
                    <a:pt x="5436235" y="4695190"/>
                  </a:cubicBezTo>
                  <a:lnTo>
                    <a:pt x="104267" y="4695190"/>
                  </a:lnTo>
                  <a:cubicBezTo>
                    <a:pt x="46609" y="4695190"/>
                    <a:pt x="0" y="4648454"/>
                    <a:pt x="0" y="4590923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29056" y="2223821"/>
            <a:ext cx="3560064" cy="390144"/>
            <a:chOff x="0" y="0"/>
            <a:chExt cx="4746752" cy="520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46752" cy="520192"/>
            </a:xfrm>
            <a:custGeom>
              <a:avLst/>
              <a:gdLst/>
              <a:ahLst/>
              <a:cxnLst/>
              <a:rect r="r" b="b" t="t" l="l"/>
              <a:pathLst>
                <a:path h="520192" w="4746752">
                  <a:moveTo>
                    <a:pt x="0" y="0"/>
                  </a:moveTo>
                  <a:lnTo>
                    <a:pt x="4746752" y="0"/>
                  </a:lnTo>
                  <a:lnTo>
                    <a:pt x="474675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46752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Highlights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29056" y="2645283"/>
            <a:ext cx="3560064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33">
                <a:solidFill>
                  <a:srgbClr val="9FADCB"/>
                </a:solidFill>
                <a:latin typeface="Calibri (MS)"/>
                <a:ea typeface="Calibri (MS)"/>
                <a:cs typeface="Calibri (MS)"/>
                <a:sym typeface="Calibri (MS)"/>
              </a:rPr>
              <a:t>Medallion architecture (Bronze/Silver/Gold) · logged, repeatable ETL procedures · cleansing &amp; standardization rules · surrogate-key star schema · built-in QA checks.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969259" y="1945643"/>
            <a:ext cx="4155443" cy="3521459"/>
            <a:chOff x="0" y="0"/>
            <a:chExt cx="5540591" cy="4695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40502" cy="4695190"/>
            </a:xfrm>
            <a:custGeom>
              <a:avLst/>
              <a:gdLst/>
              <a:ahLst/>
              <a:cxnLst/>
              <a:rect r="r" b="b" t="t" l="l"/>
              <a:pathLst>
                <a:path h="4695190" w="5540502">
                  <a:moveTo>
                    <a:pt x="0" y="104267"/>
                  </a:moveTo>
                  <a:cubicBezTo>
                    <a:pt x="0" y="46736"/>
                    <a:pt x="46736" y="0"/>
                    <a:pt x="104267" y="0"/>
                  </a:cubicBezTo>
                  <a:lnTo>
                    <a:pt x="5436235" y="0"/>
                  </a:lnTo>
                  <a:cubicBezTo>
                    <a:pt x="5493893" y="0"/>
                    <a:pt x="5540502" y="46736"/>
                    <a:pt x="5540502" y="104267"/>
                  </a:cubicBezTo>
                  <a:lnTo>
                    <a:pt x="5540502" y="4590923"/>
                  </a:lnTo>
                  <a:cubicBezTo>
                    <a:pt x="5540502" y="4648581"/>
                    <a:pt x="5493766" y="4695190"/>
                    <a:pt x="5436235" y="4695190"/>
                  </a:cubicBezTo>
                  <a:lnTo>
                    <a:pt x="104267" y="4695190"/>
                  </a:lnTo>
                  <a:cubicBezTo>
                    <a:pt x="46609" y="4695190"/>
                    <a:pt x="0" y="4648454"/>
                    <a:pt x="0" y="4590923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266944" y="2223821"/>
            <a:ext cx="3560064" cy="390144"/>
            <a:chOff x="0" y="0"/>
            <a:chExt cx="4746752" cy="520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46752" cy="520192"/>
            </a:xfrm>
            <a:custGeom>
              <a:avLst/>
              <a:gdLst/>
              <a:ahLst/>
              <a:cxnLst/>
              <a:rect r="r" b="b" t="t" l="l"/>
              <a:pathLst>
                <a:path h="520192" w="4746752">
                  <a:moveTo>
                    <a:pt x="0" y="0"/>
                  </a:moveTo>
                  <a:lnTo>
                    <a:pt x="4746752" y="0"/>
                  </a:lnTo>
                  <a:lnTo>
                    <a:pt x="474675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746752" cy="5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61867" y="2725931"/>
            <a:ext cx="1521971" cy="361293"/>
            <a:chOff x="0" y="0"/>
            <a:chExt cx="2029295" cy="481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9333" cy="481838"/>
            </a:xfrm>
            <a:custGeom>
              <a:avLst/>
              <a:gdLst/>
              <a:ahLst/>
              <a:cxnLst/>
              <a:rect r="r" b="b" t="t" l="l"/>
              <a:pathLst>
                <a:path h="481838" w="2029333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1788414" y="0"/>
                  </a:lnTo>
                  <a:cubicBezTo>
                    <a:pt x="1921383" y="0"/>
                    <a:pt x="2029333" y="107823"/>
                    <a:pt x="2029333" y="240919"/>
                  </a:cubicBezTo>
                  <a:cubicBezTo>
                    <a:pt x="2029333" y="374015"/>
                    <a:pt x="1921510" y="481838"/>
                    <a:pt x="1788414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266944" y="2731008"/>
            <a:ext cx="1511808" cy="351130"/>
            <a:chOff x="0" y="0"/>
            <a:chExt cx="2015744" cy="4681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5744" cy="468173"/>
            </a:xfrm>
            <a:custGeom>
              <a:avLst/>
              <a:gdLst/>
              <a:ahLst/>
              <a:cxnLst/>
              <a:rect r="r" b="b" t="t" l="l"/>
              <a:pathLst>
                <a:path h="468173" w="2015744">
                  <a:moveTo>
                    <a:pt x="0" y="0"/>
                  </a:moveTo>
                  <a:lnTo>
                    <a:pt x="2015744" y="0"/>
                  </a:lnTo>
                  <a:lnTo>
                    <a:pt x="2015744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93" r="0" b="-338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015744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SERVER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71211" y="2725931"/>
            <a:ext cx="936755" cy="361293"/>
            <a:chOff x="0" y="0"/>
            <a:chExt cx="1249007" cy="4817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9045" cy="481711"/>
            </a:xfrm>
            <a:custGeom>
              <a:avLst/>
              <a:gdLst/>
              <a:ahLst/>
              <a:cxnLst/>
              <a:rect r="r" b="b" t="t" l="l"/>
              <a:pathLst>
                <a:path h="481711" w="1249045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1008126" y="0"/>
                  </a:lnTo>
                  <a:cubicBezTo>
                    <a:pt x="1141222" y="0"/>
                    <a:pt x="1249045" y="107823"/>
                    <a:pt x="1249045" y="240919"/>
                  </a:cubicBezTo>
                  <a:cubicBezTo>
                    <a:pt x="1249045" y="374015"/>
                    <a:pt x="1141222" y="481711"/>
                    <a:pt x="1008126" y="481711"/>
                  </a:cubicBezTo>
                  <a:lnTo>
                    <a:pt x="240919" y="481711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8FB7FF">
                <a:alpha val="1961"/>
              </a:srgbClr>
            </a:solidFill>
            <a:ln w="1016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76288" y="2731008"/>
            <a:ext cx="926592" cy="351130"/>
            <a:chOff x="0" y="0"/>
            <a:chExt cx="1235456" cy="4681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5456" cy="468173"/>
            </a:xfrm>
            <a:custGeom>
              <a:avLst/>
              <a:gdLst/>
              <a:ahLst/>
              <a:cxnLst/>
              <a:rect r="r" b="b" t="t" l="l"/>
              <a:pathLst>
                <a:path h="468173" w="1235456">
                  <a:moveTo>
                    <a:pt x="0" y="0"/>
                  </a:moveTo>
                  <a:lnTo>
                    <a:pt x="1235456" y="0"/>
                  </a:lnTo>
                  <a:lnTo>
                    <a:pt x="1235456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235456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8FB7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T-SQL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61867" y="3194104"/>
            <a:ext cx="1668275" cy="361293"/>
            <a:chOff x="0" y="0"/>
            <a:chExt cx="2224367" cy="4817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4405" cy="481838"/>
            </a:xfrm>
            <a:custGeom>
              <a:avLst/>
              <a:gdLst/>
              <a:ahLst/>
              <a:cxnLst/>
              <a:rect r="r" b="b" t="t" l="l"/>
              <a:pathLst>
                <a:path h="481838" w="2224405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1983486" y="0"/>
                  </a:lnTo>
                  <a:cubicBezTo>
                    <a:pt x="2116455" y="0"/>
                    <a:pt x="2224405" y="107823"/>
                    <a:pt x="2224405" y="240919"/>
                  </a:cubicBezTo>
                  <a:cubicBezTo>
                    <a:pt x="2224405" y="374015"/>
                    <a:pt x="2116582" y="481838"/>
                    <a:pt x="1983486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D9A94E"/>
            </a:solidFill>
            <a:ln w="1016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266944" y="3199181"/>
            <a:ext cx="1658112" cy="351130"/>
            <a:chOff x="0" y="0"/>
            <a:chExt cx="2210816" cy="4681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10816" cy="468173"/>
            </a:xfrm>
            <a:custGeom>
              <a:avLst/>
              <a:gdLst/>
              <a:ahLst/>
              <a:cxnLst/>
              <a:rect r="r" b="b" t="t" l="l"/>
              <a:pathLst>
                <a:path h="468173" w="2210816">
                  <a:moveTo>
                    <a:pt x="0" y="0"/>
                  </a:moveTo>
                  <a:lnTo>
                    <a:pt x="2210816" y="0"/>
                  </a:lnTo>
                  <a:lnTo>
                    <a:pt x="2210816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210816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2218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BULK INSERT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17515" y="3194104"/>
            <a:ext cx="1717043" cy="361293"/>
            <a:chOff x="0" y="0"/>
            <a:chExt cx="2289391" cy="4817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9429" cy="481838"/>
            </a:xfrm>
            <a:custGeom>
              <a:avLst/>
              <a:gdLst/>
              <a:ahLst/>
              <a:cxnLst/>
              <a:rect r="r" b="b" t="t" l="l"/>
              <a:pathLst>
                <a:path h="481838" w="2289429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2048510" y="0"/>
                  </a:lnTo>
                  <a:cubicBezTo>
                    <a:pt x="2181479" y="0"/>
                    <a:pt x="2289429" y="107823"/>
                    <a:pt x="2289429" y="240919"/>
                  </a:cubicBezTo>
                  <a:cubicBezTo>
                    <a:pt x="2289429" y="374015"/>
                    <a:pt x="2181606" y="481838"/>
                    <a:pt x="2048510" y="481838"/>
                  </a:cubicBezTo>
                  <a:lnTo>
                    <a:pt x="240919" y="481838"/>
                  </a:lnTo>
                  <a:cubicBezTo>
                    <a:pt x="107823" y="481711"/>
                    <a:pt x="0" y="373888"/>
                    <a:pt x="0" y="240919"/>
                  </a:cubicBezTo>
                  <a:close/>
                </a:path>
              </a:pathLst>
            </a:custGeom>
            <a:solidFill>
              <a:srgbClr val="C7D3EC">
                <a:alpha val="392"/>
              </a:srgbClr>
            </a:solidFill>
            <a:ln w="10160" cap="sq">
              <a:solidFill>
                <a:srgbClr val="C7D3E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022592" y="3199181"/>
            <a:ext cx="1706880" cy="351130"/>
            <a:chOff x="0" y="0"/>
            <a:chExt cx="2275840" cy="46817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5840" cy="468173"/>
            </a:xfrm>
            <a:custGeom>
              <a:avLst/>
              <a:gdLst/>
              <a:ahLst/>
              <a:cxnLst/>
              <a:rect r="r" b="b" t="t" l="l"/>
              <a:pathLst>
                <a:path h="468173" w="2275840">
                  <a:moveTo>
                    <a:pt x="0" y="0"/>
                  </a:moveTo>
                  <a:lnTo>
                    <a:pt x="2275840" y="0"/>
                  </a:lnTo>
                  <a:lnTo>
                    <a:pt x="2275840" y="468173"/>
                  </a:lnTo>
                  <a:lnTo>
                    <a:pt x="0" y="4681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275840" cy="496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53">
                  <a:solidFill>
                    <a:srgbClr val="C7D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 SCHEMA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266944" y="3785997"/>
            <a:ext cx="3560064" cy="143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226" i="true">
                <a:solidFill>
                  <a:srgbClr val="7C8CA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full source of all 8 scripts is walked through slide-by-slide on the pages that follow.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36448" y="6681216"/>
            <a:ext cx="5364480" cy="292608"/>
            <a:chOff x="0" y="0"/>
            <a:chExt cx="7152640" cy="390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52640" cy="390144"/>
            </a:xfrm>
            <a:custGeom>
              <a:avLst/>
              <a:gdLst/>
              <a:ahLst/>
              <a:cxnLst/>
              <a:rect r="r" b="b" t="t" l="l"/>
              <a:pathLst>
                <a:path h="390144" w="7152640">
                  <a:moveTo>
                    <a:pt x="0" y="0"/>
                  </a:moveTo>
                  <a:lnTo>
                    <a:pt x="7152640" y="0"/>
                  </a:lnTo>
                  <a:lnTo>
                    <a:pt x="715264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715264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Anna Pauseiro — IT professional passionate about data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01440" y="6681216"/>
            <a:ext cx="4828032" cy="292608"/>
            <a:chOff x="0" y="0"/>
            <a:chExt cx="6437376" cy="3901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37376" cy="390144"/>
            </a:xfrm>
            <a:custGeom>
              <a:avLst/>
              <a:gdLst/>
              <a:ahLst/>
              <a:cxnLst/>
              <a:rect r="r" b="b" t="t" l="l"/>
              <a:pathLst>
                <a:path h="390144" w="6437376">
                  <a:moveTo>
                    <a:pt x="0" y="0"/>
                  </a:moveTo>
                  <a:lnTo>
                    <a:pt x="6437376" y="0"/>
                  </a:lnTo>
                  <a:lnTo>
                    <a:pt x="6437376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437376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79"/>
                </a:lnSpc>
              </a:pPr>
              <a:r>
                <a:rPr lang="en-US" sz="1066">
                  <a:solidFill>
                    <a:srgbClr val="8FB7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github.com/annapauseiro/sql-data-warehouse-project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41792" y="6944563"/>
            <a:ext cx="975360" cy="273101"/>
            <a:chOff x="0" y="0"/>
            <a:chExt cx="1300480" cy="3641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00480" cy="364134"/>
            </a:xfrm>
            <a:custGeom>
              <a:avLst/>
              <a:gdLst/>
              <a:ahLst/>
              <a:cxnLst/>
              <a:rect r="r" b="b" t="t" l="l"/>
              <a:pathLst>
                <a:path h="364134" w="1300480">
                  <a:moveTo>
                    <a:pt x="0" y="0"/>
                  </a:moveTo>
                  <a:lnTo>
                    <a:pt x="1300480" y="0"/>
                  </a:lnTo>
                  <a:lnTo>
                    <a:pt x="1300480" y="364134"/>
                  </a:lnTo>
                  <a:lnTo>
                    <a:pt x="0" y="364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300480" cy="383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52"/>
                </a:lnSpc>
              </a:pPr>
              <a:r>
                <a:rPr lang="en-US" sz="960">
                  <a:solidFill>
                    <a:srgbClr val="7C8C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DAHU_y7o1gE</dc:identifier>
  <dcterms:modified xsi:type="dcterms:W3CDTF">2011-08-01T06:04:30Z</dcterms:modified>
  <cp:revision>1</cp:revision>
  <dc:title>SQL_Data_Warehouse_Project.pptx</dc:title>
</cp:coreProperties>
</file>