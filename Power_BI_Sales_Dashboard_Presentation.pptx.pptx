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0"/>
  </p:notesMasterIdLst>
  <p:sldIdLst>
    <p:sldId id="256" r:id="rId6"/>
    <p:sldId id="257" r:id="rId7"/>
    <p:sldId id="258" r:id="rId8"/>
    <p:sldId id="259" r:id="rId9"/>
  </p:sldIdLst>
  <p:sldSz cx="9753600" cy="7315200"/>
  <p:notesSz cx="6858000" cy="9144000"/>
  <p:embeddedFontLst>
    <p:embeddedFont>
      <p:font typeface="Calibri (MS) Bold" charset="1" panose="020F0702030404030204"/>
      <p:regular r:id="rId13"/>
    </p:embeddedFont>
    <p:embeddedFont>
      <p:font typeface="Cambria Bold" charset="1" panose="02040803050406030204"/>
      <p:regular r:id="rId14"/>
    </p:embeddedFont>
    <p:embeddedFont>
      <p:font typeface="Calibri (MS)" charset="1" panose="020F050202020403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notesMasters/notesMaster1.xml" Type="http://schemas.openxmlformats.org/officeDocument/2006/relationships/notesMaster"/><Relationship Id="rId11" Target="theme/theme2.xml" Type="http://schemas.openxmlformats.org/officeDocument/2006/relationships/theme"/><Relationship Id="rId12" Target="notesSlides/notesSlide1.xml" Type="http://schemas.openxmlformats.org/officeDocument/2006/relationships/notes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Slides/notesSlide2.xml" Type="http://schemas.openxmlformats.org/officeDocument/2006/relationships/notesSlide"/><Relationship Id="rId17" Target="notesSlides/notesSlide3.xml" Type="http://schemas.openxmlformats.org/officeDocument/2006/relationships/notesSlide"/><Relationship Id="rId18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8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 descr="bg_gradient.png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6034" y="1077087"/>
            <a:ext cx="2438400" cy="390144"/>
            <a:chOff x="0" y="0"/>
            <a:chExt cx="3251200" cy="520192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3251200" cy="520192"/>
              <a:chOff x="0" y="0"/>
              <a:chExt cx="3251200" cy="520192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251200" cy="520192"/>
              </a:xfrm>
              <a:custGeom>
                <a:avLst/>
                <a:gdLst/>
                <a:ahLst/>
                <a:cxnLst/>
                <a:rect r="r" b="b" t="t" l="l"/>
                <a:pathLst>
                  <a:path h="520192" w="3251200">
                    <a:moveTo>
                      <a:pt x="0" y="260096"/>
                    </a:moveTo>
                    <a:cubicBezTo>
                      <a:pt x="0" y="116459"/>
                      <a:pt x="116459" y="0"/>
                      <a:pt x="260096" y="0"/>
                    </a:cubicBezTo>
                    <a:lnTo>
                      <a:pt x="2991104" y="0"/>
                    </a:lnTo>
                    <a:cubicBezTo>
                      <a:pt x="3134741" y="0"/>
                      <a:pt x="3251200" y="116459"/>
                      <a:pt x="3251200" y="260096"/>
                    </a:cubicBezTo>
                    <a:cubicBezTo>
                      <a:pt x="3251200" y="403733"/>
                      <a:pt x="3134741" y="520192"/>
                      <a:pt x="2991104" y="520192"/>
                    </a:cubicBezTo>
                    <a:lnTo>
                      <a:pt x="260096" y="520192"/>
                    </a:lnTo>
                    <a:cubicBezTo>
                      <a:pt x="116459" y="520192"/>
                      <a:pt x="0" y="403733"/>
                      <a:pt x="0" y="260096"/>
                    </a:cubicBezTo>
                    <a:close/>
                  </a:path>
                </a:pathLst>
              </a:custGeom>
              <a:solidFill>
                <a:srgbClr val="D9A94E"/>
              </a:solidFill>
            </p:spPr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3251200" cy="520192"/>
              <a:chOff x="0" y="0"/>
              <a:chExt cx="3251200" cy="520192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251200" cy="520192"/>
              </a:xfrm>
              <a:custGeom>
                <a:avLst/>
                <a:gdLst/>
                <a:ahLst/>
                <a:cxnLst/>
                <a:rect r="r" b="b" t="t" l="l"/>
                <a:pathLst>
                  <a:path h="520192" w="3251200">
                    <a:moveTo>
                      <a:pt x="0" y="0"/>
                    </a:moveTo>
                    <a:lnTo>
                      <a:pt x="3251200" y="0"/>
                    </a:lnTo>
                    <a:lnTo>
                      <a:pt x="3251200" y="520192"/>
                    </a:lnTo>
                    <a:lnTo>
                      <a:pt x="0" y="520192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71781" r="0" b="-71781"/>
                </a:stretch>
              </a:blip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28575"/>
                <a:ext cx="3251200" cy="54876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1536"/>
                  </a:lnSpc>
                </a:pPr>
                <a:r>
                  <a:rPr lang="en-US" b="true" sz="1280" spc="213">
                    <a:solidFill>
                      <a:srgbClr val="241E08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POWER BI PROJECT</a:t>
                </a:r>
              </a:p>
            </p:txBody>
          </p:sp>
        </p:grpSp>
      </p:grpSp>
      <p:grpSp>
        <p:nvGrpSpPr>
          <p:cNvPr name="Group 10" id="10"/>
          <p:cNvGrpSpPr/>
          <p:nvPr/>
        </p:nvGrpSpPr>
        <p:grpSpPr>
          <a:xfrm rot="0">
            <a:off x="7754112" y="731520"/>
            <a:ext cx="1267968" cy="1267968"/>
            <a:chOff x="0" y="0"/>
            <a:chExt cx="1690624" cy="16906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90624" cy="1690624"/>
            </a:xfrm>
            <a:custGeom>
              <a:avLst/>
              <a:gdLst/>
              <a:ahLst/>
              <a:cxnLst/>
              <a:rect r="r" b="b" t="t" l="l"/>
              <a:pathLst>
                <a:path h="1690624" w="1690624">
                  <a:moveTo>
                    <a:pt x="0" y="845312"/>
                  </a:moveTo>
                  <a:cubicBezTo>
                    <a:pt x="0" y="378460"/>
                    <a:pt x="378460" y="0"/>
                    <a:pt x="845312" y="0"/>
                  </a:cubicBezTo>
                  <a:cubicBezTo>
                    <a:pt x="1312164" y="0"/>
                    <a:pt x="1690624" y="378460"/>
                    <a:pt x="1690624" y="845312"/>
                  </a:cubicBezTo>
                  <a:cubicBezTo>
                    <a:pt x="1690624" y="1312164"/>
                    <a:pt x="1312164" y="1690624"/>
                    <a:pt x="845312" y="1690624"/>
                  </a:cubicBezTo>
                  <a:cubicBezTo>
                    <a:pt x="378460" y="1690624"/>
                    <a:pt x="0" y="1312164"/>
                    <a:pt x="0" y="845312"/>
                  </a:cubicBezTo>
                  <a:close/>
                </a:path>
              </a:pathLst>
            </a:custGeom>
            <a:solidFill>
              <a:srgbClr val="F2C74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31520" y="2173824"/>
            <a:ext cx="8583168" cy="2967551"/>
            <a:chOff x="0" y="0"/>
            <a:chExt cx="11444224" cy="39567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444224" cy="3956735"/>
            </a:xfrm>
            <a:custGeom>
              <a:avLst/>
              <a:gdLst/>
              <a:ahLst/>
              <a:cxnLst/>
              <a:rect r="r" b="b" t="t" l="l"/>
              <a:pathLst>
                <a:path h="3956735" w="11444224">
                  <a:moveTo>
                    <a:pt x="0" y="0"/>
                  </a:moveTo>
                  <a:lnTo>
                    <a:pt x="11444224" y="0"/>
                  </a:lnTo>
                  <a:lnTo>
                    <a:pt x="11444224" y="3956735"/>
                  </a:lnTo>
                  <a:lnTo>
                    <a:pt x="0" y="39567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280" r="0" b="2556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1444224" cy="3956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D9A94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Sales Performance Dashboard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314434" y="6851904"/>
            <a:ext cx="9753600" cy="243840"/>
            <a:chOff x="0" y="0"/>
            <a:chExt cx="13004800" cy="325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04800" cy="325120"/>
            </a:xfrm>
            <a:custGeom>
              <a:avLst/>
              <a:gdLst/>
              <a:ahLst/>
              <a:cxnLst/>
              <a:rect r="r" b="b" t="t" l="l"/>
              <a:pathLst>
                <a:path h="32512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325120"/>
                  </a:lnTo>
                  <a:lnTo>
                    <a:pt x="0" y="325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3004800" cy="353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15"/>
                </a:lnSpc>
              </a:pPr>
              <a:r>
                <a:rPr lang="en-US" sz="1013">
                  <a:solidFill>
                    <a:srgbClr val="C5BD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Anna Pauseiro  ·  Data &amp; Audit Analyst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033070" y="1005072"/>
            <a:ext cx="710052" cy="720865"/>
          </a:xfrm>
          <a:custGeom>
            <a:avLst/>
            <a:gdLst/>
            <a:ahLst/>
            <a:cxnLst/>
            <a:rect r="r" b="b" t="t" l="l"/>
            <a:pathLst>
              <a:path h="720865" w="710052">
                <a:moveTo>
                  <a:pt x="0" y="0"/>
                </a:moveTo>
                <a:lnTo>
                  <a:pt x="710052" y="0"/>
                </a:lnTo>
                <a:lnTo>
                  <a:pt x="710052" y="720864"/>
                </a:lnTo>
                <a:lnTo>
                  <a:pt x="0" y="7208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31520" y="4057650"/>
            <a:ext cx="7802880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C5BD77"/>
                </a:solidFill>
                <a:latin typeface="Calibri (MS)"/>
                <a:ea typeface="Calibri (MS)"/>
                <a:cs typeface="Calibri (MS)"/>
                <a:sym typeface="Calibri (MS)"/>
              </a:rPr>
              <a:t>An interactive Power BI report analyzing sales, customers, and</a:t>
            </a:r>
          </a:p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C5BD77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 performance across four regions, 2011–2014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8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 descr="bg_gradient.png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85216" y="409651"/>
            <a:ext cx="8583168" cy="536448"/>
            <a:chOff x="0" y="0"/>
            <a:chExt cx="11444224" cy="7152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44224" cy="715264"/>
            </a:xfrm>
            <a:custGeom>
              <a:avLst/>
              <a:gdLst/>
              <a:ahLst/>
              <a:cxnLst/>
              <a:rect r="r" b="b" t="t" l="l"/>
              <a:pathLst>
                <a:path h="715264" w="11444224">
                  <a:moveTo>
                    <a:pt x="0" y="0"/>
                  </a:moveTo>
                  <a:lnTo>
                    <a:pt x="11444224" y="0"/>
                  </a:lnTo>
                  <a:lnTo>
                    <a:pt x="11444224" y="715264"/>
                  </a:lnTo>
                  <a:lnTo>
                    <a:pt x="0" y="7152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1444224" cy="724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83"/>
                </a:lnSpc>
              </a:pPr>
              <a:r>
                <a:rPr lang="en-US" sz="2986" b="true">
                  <a:solidFill>
                    <a:srgbClr val="D9A94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Dashboard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85216" y="888492"/>
            <a:ext cx="8583168" cy="428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333">
                <a:solidFill>
                  <a:srgbClr val="F4E9D8"/>
                </a:solidFill>
                <a:latin typeface="Calibri (MS)"/>
                <a:ea typeface="Calibri (MS)"/>
                <a:cs typeface="Calibri (MS)"/>
                <a:sym typeface="Calibri (MS)"/>
              </a:rPr>
              <a:t>One page, four filters, and every number a click away — country, order date, and category slicers drive the whole report.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57418" y="1414272"/>
            <a:ext cx="7638774" cy="5218176"/>
            <a:chOff x="0" y="0"/>
            <a:chExt cx="10185032" cy="69575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85019" cy="6957568"/>
            </a:xfrm>
            <a:custGeom>
              <a:avLst/>
              <a:gdLst/>
              <a:ahLst/>
              <a:cxnLst/>
              <a:rect r="r" b="b" t="t" l="l"/>
              <a:pathLst>
                <a:path h="6957568" w="10185019">
                  <a:moveTo>
                    <a:pt x="0" y="104013"/>
                  </a:moveTo>
                  <a:cubicBezTo>
                    <a:pt x="0" y="46609"/>
                    <a:pt x="46609" y="0"/>
                    <a:pt x="104013" y="0"/>
                  </a:cubicBezTo>
                  <a:lnTo>
                    <a:pt x="10081006" y="0"/>
                  </a:lnTo>
                  <a:cubicBezTo>
                    <a:pt x="10138411" y="0"/>
                    <a:pt x="10185019" y="46609"/>
                    <a:pt x="10185019" y="104013"/>
                  </a:cubicBezTo>
                  <a:lnTo>
                    <a:pt x="10185019" y="6853555"/>
                  </a:lnTo>
                  <a:cubicBezTo>
                    <a:pt x="10185019" y="6910960"/>
                    <a:pt x="10138411" y="6957568"/>
                    <a:pt x="10081006" y="6957568"/>
                  </a:cubicBezTo>
                  <a:lnTo>
                    <a:pt x="104013" y="6957568"/>
                  </a:lnTo>
                  <a:cubicBezTo>
                    <a:pt x="46609" y="6957568"/>
                    <a:pt x="0" y="6910960"/>
                    <a:pt x="0" y="6853555"/>
                  </a:cubicBezTo>
                  <a:close/>
                </a:path>
              </a:pathLst>
            </a:custGeom>
            <a:solidFill>
              <a:srgbClr val="FBF7E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2490" y="1609344"/>
            <a:ext cx="7248630" cy="4828032"/>
            <a:chOff x="0" y="0"/>
            <a:chExt cx="9664840" cy="6437376"/>
          </a:xfrm>
        </p:grpSpPr>
        <p:sp>
          <p:nvSpPr>
            <p:cNvPr name="Freeform 11" id="11" descr="dashboard_flat.png"/>
            <p:cNvSpPr/>
            <p:nvPr/>
          </p:nvSpPr>
          <p:spPr>
            <a:xfrm flipH="false" flipV="false" rot="0">
              <a:off x="0" y="0"/>
              <a:ext cx="9664827" cy="6437376"/>
            </a:xfrm>
            <a:custGeom>
              <a:avLst/>
              <a:gdLst/>
              <a:ahLst/>
              <a:cxnLst/>
              <a:rect r="r" b="b" t="t" l="l"/>
              <a:pathLst>
                <a:path h="6437376" w="9664827">
                  <a:moveTo>
                    <a:pt x="0" y="0"/>
                  </a:moveTo>
                  <a:lnTo>
                    <a:pt x="9664827" y="0"/>
                  </a:lnTo>
                  <a:lnTo>
                    <a:pt x="9664827" y="6437376"/>
                  </a:lnTo>
                  <a:lnTo>
                    <a:pt x="0" y="64373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6749491"/>
            <a:ext cx="9753600" cy="341376"/>
            <a:chOff x="0" y="0"/>
            <a:chExt cx="13004800" cy="4551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004800" cy="455168"/>
            </a:xfrm>
            <a:custGeom>
              <a:avLst/>
              <a:gdLst/>
              <a:ahLst/>
              <a:cxnLst/>
              <a:rect r="r" b="b" t="t" l="l"/>
              <a:pathLst>
                <a:path h="455168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455168"/>
                  </a:lnTo>
                  <a:lnTo>
                    <a:pt x="0" y="4551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3004800" cy="483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91"/>
                </a:lnSpc>
              </a:pPr>
              <a:r>
                <a:rPr lang="en-US" sz="1493" b="true">
                  <a:solidFill>
                    <a:srgbClr val="D9A9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60.4K  </a:t>
              </a:r>
              <a:r>
                <a:rPr lang="en-US" sz="1493">
                  <a:solidFill>
                    <a:srgbClr val="F4E9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Orders     </a:t>
              </a:r>
              <a:r>
                <a:rPr lang="en-US" sz="1493" b="true">
                  <a:solidFill>
                    <a:srgbClr val="D9A9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18.5K  </a:t>
              </a:r>
              <a:r>
                <a:rPr lang="en-US" sz="1493">
                  <a:solidFill>
                    <a:srgbClr val="F4E9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Customers     </a:t>
              </a:r>
              <a:r>
                <a:rPr lang="en-US" sz="1493" b="true">
                  <a:solidFill>
                    <a:srgbClr val="D9A9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$29M  </a:t>
              </a:r>
              <a:r>
                <a:rPr lang="en-US" sz="1493">
                  <a:solidFill>
                    <a:srgbClr val="F4E9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Sales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8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 descr="bg_gradient.png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85216" y="409651"/>
            <a:ext cx="8583168" cy="536448"/>
            <a:chOff x="0" y="0"/>
            <a:chExt cx="11444224" cy="7152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44224" cy="715264"/>
            </a:xfrm>
            <a:custGeom>
              <a:avLst/>
              <a:gdLst/>
              <a:ahLst/>
              <a:cxnLst/>
              <a:rect r="r" b="b" t="t" l="l"/>
              <a:pathLst>
                <a:path h="715264" w="11444224">
                  <a:moveTo>
                    <a:pt x="0" y="0"/>
                  </a:moveTo>
                  <a:lnTo>
                    <a:pt x="11444224" y="0"/>
                  </a:lnTo>
                  <a:lnTo>
                    <a:pt x="11444224" y="715264"/>
                  </a:lnTo>
                  <a:lnTo>
                    <a:pt x="0" y="7152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1444224" cy="724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28"/>
                </a:lnSpc>
              </a:pPr>
              <a:r>
                <a:rPr lang="en-US" sz="2773" b="true">
                  <a:solidFill>
                    <a:srgbClr val="D9A94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the Dashboard Demonstrates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2998" y="1277722"/>
            <a:ext cx="702259" cy="702259"/>
            <a:chOff x="0" y="0"/>
            <a:chExt cx="936346" cy="9363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6371" cy="936371"/>
            </a:xfrm>
            <a:custGeom>
              <a:avLst/>
              <a:gdLst/>
              <a:ahLst/>
              <a:cxnLst/>
              <a:rect r="r" b="b" t="t" l="l"/>
              <a:pathLst>
                <a:path h="936371" w="936371">
                  <a:moveTo>
                    <a:pt x="0" y="468122"/>
                  </a:moveTo>
                  <a:cubicBezTo>
                    <a:pt x="0" y="209550"/>
                    <a:pt x="209550" y="0"/>
                    <a:pt x="468122" y="0"/>
                  </a:cubicBezTo>
                  <a:cubicBezTo>
                    <a:pt x="726694" y="0"/>
                    <a:pt x="936371" y="209550"/>
                    <a:pt x="936371" y="468122"/>
                  </a:cubicBezTo>
                  <a:cubicBezTo>
                    <a:pt x="936371" y="726694"/>
                    <a:pt x="726694" y="936371"/>
                    <a:pt x="468122" y="936371"/>
                  </a:cubicBezTo>
                  <a:cubicBezTo>
                    <a:pt x="209550" y="936371"/>
                    <a:pt x="0" y="726694"/>
                    <a:pt x="0" y="468122"/>
                  </a:cubicBezTo>
                  <a:close/>
                </a:path>
              </a:pathLst>
            </a:custGeom>
            <a:solidFill>
              <a:srgbClr val="F2C74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06425" y="1622889"/>
            <a:ext cx="77248" cy="202587"/>
            <a:chOff x="0" y="0"/>
            <a:chExt cx="102997" cy="27011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997" cy="270129"/>
            </a:xfrm>
            <a:custGeom>
              <a:avLst/>
              <a:gdLst/>
              <a:ahLst/>
              <a:cxnLst/>
              <a:rect r="r" b="b" t="t" l="l"/>
              <a:pathLst>
                <a:path h="270129" w="102997">
                  <a:moveTo>
                    <a:pt x="0" y="0"/>
                  </a:moveTo>
                  <a:lnTo>
                    <a:pt x="102997" y="0"/>
                  </a:lnTo>
                  <a:lnTo>
                    <a:pt x="102997" y="270129"/>
                  </a:lnTo>
                  <a:lnTo>
                    <a:pt x="0" y="270129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25811" y="1515637"/>
            <a:ext cx="77248" cy="309848"/>
            <a:chOff x="0" y="0"/>
            <a:chExt cx="102997" cy="4131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997" cy="413131"/>
            </a:xfrm>
            <a:custGeom>
              <a:avLst/>
              <a:gdLst/>
              <a:ahLst/>
              <a:cxnLst/>
              <a:rect r="r" b="b" t="t" l="l"/>
              <a:pathLst>
                <a:path h="413131" w="102997">
                  <a:moveTo>
                    <a:pt x="0" y="0"/>
                  </a:moveTo>
                  <a:lnTo>
                    <a:pt x="102997" y="0"/>
                  </a:lnTo>
                  <a:lnTo>
                    <a:pt x="102997" y="413131"/>
                  </a:lnTo>
                  <a:lnTo>
                    <a:pt x="0" y="413131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45197" y="1563310"/>
            <a:ext cx="77248" cy="262176"/>
            <a:chOff x="0" y="0"/>
            <a:chExt cx="102997" cy="3495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997" cy="349631"/>
            </a:xfrm>
            <a:custGeom>
              <a:avLst/>
              <a:gdLst/>
              <a:ahLst/>
              <a:cxnLst/>
              <a:rect r="r" b="b" t="t" l="l"/>
              <a:pathLst>
                <a:path h="349631" w="102997">
                  <a:moveTo>
                    <a:pt x="0" y="0"/>
                  </a:moveTo>
                  <a:lnTo>
                    <a:pt x="102997" y="0"/>
                  </a:lnTo>
                  <a:lnTo>
                    <a:pt x="102997" y="349631"/>
                  </a:lnTo>
                  <a:lnTo>
                    <a:pt x="0" y="349631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64584" y="1432217"/>
            <a:ext cx="77248" cy="393268"/>
            <a:chOff x="0" y="0"/>
            <a:chExt cx="102997" cy="5243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997" cy="524383"/>
            </a:xfrm>
            <a:custGeom>
              <a:avLst/>
              <a:gdLst/>
              <a:ahLst/>
              <a:cxnLst/>
              <a:rect r="r" b="b" t="t" l="l"/>
              <a:pathLst>
                <a:path h="524383" w="102997">
                  <a:moveTo>
                    <a:pt x="0" y="0"/>
                  </a:moveTo>
                  <a:lnTo>
                    <a:pt x="102997" y="0"/>
                  </a:lnTo>
                  <a:lnTo>
                    <a:pt x="102997" y="524383"/>
                  </a:lnTo>
                  <a:lnTo>
                    <a:pt x="0" y="524383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09344" y="1219200"/>
            <a:ext cx="7120128" cy="390144"/>
            <a:chOff x="0" y="0"/>
            <a:chExt cx="9493504" cy="5201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93504" cy="520192"/>
            </a:xfrm>
            <a:custGeom>
              <a:avLst/>
              <a:gdLst/>
              <a:ahLst/>
              <a:cxnLst/>
              <a:rect r="r" b="b" t="t" l="l"/>
              <a:pathLst>
                <a:path h="520192" w="9493504">
                  <a:moveTo>
                    <a:pt x="0" y="0"/>
                  </a:moveTo>
                  <a:lnTo>
                    <a:pt x="9493504" y="0"/>
                  </a:lnTo>
                  <a:lnTo>
                    <a:pt x="9493504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5601" r="0" b="-30560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493504" cy="558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8"/>
                </a:lnSpc>
              </a:pPr>
              <a:r>
                <a:rPr lang="en-US" sz="1706" b="true">
                  <a:solidFill>
                    <a:srgbClr val="D9A9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Interactive Filtering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09344" y="1609344"/>
            <a:ext cx="7120128" cy="731520"/>
            <a:chOff x="0" y="0"/>
            <a:chExt cx="9493504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93504" cy="975360"/>
            </a:xfrm>
            <a:custGeom>
              <a:avLst/>
              <a:gdLst/>
              <a:ahLst/>
              <a:cxnLst/>
              <a:rect r="r" b="b" t="t" l="l"/>
              <a:pathLst>
                <a:path h="975360" w="9493504">
                  <a:moveTo>
                    <a:pt x="0" y="0"/>
                  </a:moveTo>
                  <a:lnTo>
                    <a:pt x="9493504" y="0"/>
                  </a:lnTo>
                  <a:lnTo>
                    <a:pt x="949350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9654" r="0" b="-13965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9493504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333">
                  <a:solidFill>
                    <a:srgbClr val="F4E9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Slicers for country, order date, and category drive every visual on the page in real time.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72998" y="2565197"/>
            <a:ext cx="702259" cy="702259"/>
            <a:chOff x="0" y="0"/>
            <a:chExt cx="936346" cy="93634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36371" cy="936371"/>
            </a:xfrm>
            <a:custGeom>
              <a:avLst/>
              <a:gdLst/>
              <a:ahLst/>
              <a:cxnLst/>
              <a:rect r="r" b="b" t="t" l="l"/>
              <a:pathLst>
                <a:path h="936371" w="936371">
                  <a:moveTo>
                    <a:pt x="0" y="468122"/>
                  </a:moveTo>
                  <a:cubicBezTo>
                    <a:pt x="0" y="209550"/>
                    <a:pt x="209550" y="0"/>
                    <a:pt x="468122" y="0"/>
                  </a:cubicBezTo>
                  <a:cubicBezTo>
                    <a:pt x="726694" y="0"/>
                    <a:pt x="936371" y="209550"/>
                    <a:pt x="936371" y="468122"/>
                  </a:cubicBezTo>
                  <a:cubicBezTo>
                    <a:pt x="936371" y="726694"/>
                    <a:pt x="726694" y="936371"/>
                    <a:pt x="468122" y="936371"/>
                  </a:cubicBezTo>
                  <a:cubicBezTo>
                    <a:pt x="209550" y="936371"/>
                    <a:pt x="0" y="726694"/>
                    <a:pt x="0" y="468122"/>
                  </a:cubicBezTo>
                  <a:close/>
                </a:path>
              </a:pathLst>
            </a:custGeom>
            <a:solidFill>
              <a:srgbClr val="F2C74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06425" y="2910364"/>
            <a:ext cx="77248" cy="202587"/>
            <a:chOff x="0" y="0"/>
            <a:chExt cx="102997" cy="2701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997" cy="270129"/>
            </a:xfrm>
            <a:custGeom>
              <a:avLst/>
              <a:gdLst/>
              <a:ahLst/>
              <a:cxnLst/>
              <a:rect r="r" b="b" t="t" l="l"/>
              <a:pathLst>
                <a:path h="270129" w="102997">
                  <a:moveTo>
                    <a:pt x="0" y="0"/>
                  </a:moveTo>
                  <a:lnTo>
                    <a:pt x="102997" y="0"/>
                  </a:lnTo>
                  <a:lnTo>
                    <a:pt x="102997" y="270129"/>
                  </a:lnTo>
                  <a:lnTo>
                    <a:pt x="0" y="270129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25811" y="2803112"/>
            <a:ext cx="77248" cy="309848"/>
            <a:chOff x="0" y="0"/>
            <a:chExt cx="102997" cy="4131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997" cy="413131"/>
            </a:xfrm>
            <a:custGeom>
              <a:avLst/>
              <a:gdLst/>
              <a:ahLst/>
              <a:cxnLst/>
              <a:rect r="r" b="b" t="t" l="l"/>
              <a:pathLst>
                <a:path h="413131" w="102997">
                  <a:moveTo>
                    <a:pt x="0" y="0"/>
                  </a:moveTo>
                  <a:lnTo>
                    <a:pt x="102997" y="0"/>
                  </a:lnTo>
                  <a:lnTo>
                    <a:pt x="102997" y="413131"/>
                  </a:lnTo>
                  <a:lnTo>
                    <a:pt x="0" y="413131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45197" y="2850785"/>
            <a:ext cx="77248" cy="262176"/>
            <a:chOff x="0" y="0"/>
            <a:chExt cx="102997" cy="3495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997" cy="349631"/>
            </a:xfrm>
            <a:custGeom>
              <a:avLst/>
              <a:gdLst/>
              <a:ahLst/>
              <a:cxnLst/>
              <a:rect r="r" b="b" t="t" l="l"/>
              <a:pathLst>
                <a:path h="349631" w="102997">
                  <a:moveTo>
                    <a:pt x="0" y="0"/>
                  </a:moveTo>
                  <a:lnTo>
                    <a:pt x="102997" y="0"/>
                  </a:lnTo>
                  <a:lnTo>
                    <a:pt x="102997" y="349631"/>
                  </a:lnTo>
                  <a:lnTo>
                    <a:pt x="0" y="349631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64584" y="2719692"/>
            <a:ext cx="77248" cy="393268"/>
            <a:chOff x="0" y="0"/>
            <a:chExt cx="102997" cy="5243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997" cy="524383"/>
            </a:xfrm>
            <a:custGeom>
              <a:avLst/>
              <a:gdLst/>
              <a:ahLst/>
              <a:cxnLst/>
              <a:rect r="r" b="b" t="t" l="l"/>
              <a:pathLst>
                <a:path h="524383" w="102997">
                  <a:moveTo>
                    <a:pt x="0" y="0"/>
                  </a:moveTo>
                  <a:lnTo>
                    <a:pt x="102997" y="0"/>
                  </a:lnTo>
                  <a:lnTo>
                    <a:pt x="102997" y="524383"/>
                  </a:lnTo>
                  <a:lnTo>
                    <a:pt x="0" y="524383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09344" y="2506675"/>
            <a:ext cx="7120128" cy="390144"/>
            <a:chOff x="0" y="0"/>
            <a:chExt cx="9493504" cy="5201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493504" cy="520192"/>
            </a:xfrm>
            <a:custGeom>
              <a:avLst/>
              <a:gdLst/>
              <a:ahLst/>
              <a:cxnLst/>
              <a:rect r="r" b="b" t="t" l="l"/>
              <a:pathLst>
                <a:path h="520192" w="9493504">
                  <a:moveTo>
                    <a:pt x="0" y="0"/>
                  </a:moveTo>
                  <a:lnTo>
                    <a:pt x="9493504" y="0"/>
                  </a:lnTo>
                  <a:lnTo>
                    <a:pt x="9493504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5601" r="0" b="-30560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493504" cy="558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8"/>
                </a:lnSpc>
              </a:pPr>
              <a:r>
                <a:rPr lang="en-US" sz="1706" b="true">
                  <a:solidFill>
                    <a:srgbClr val="D9A9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Trend Analysis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09344" y="2896819"/>
            <a:ext cx="7120128" cy="731520"/>
            <a:chOff x="0" y="0"/>
            <a:chExt cx="9493504" cy="9753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493504" cy="975360"/>
            </a:xfrm>
            <a:custGeom>
              <a:avLst/>
              <a:gdLst/>
              <a:ahLst/>
              <a:cxnLst/>
              <a:rect r="r" b="b" t="t" l="l"/>
              <a:pathLst>
                <a:path h="975360" w="9493504">
                  <a:moveTo>
                    <a:pt x="0" y="0"/>
                  </a:moveTo>
                  <a:lnTo>
                    <a:pt x="9493504" y="0"/>
                  </a:lnTo>
                  <a:lnTo>
                    <a:pt x="949350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9654" r="0" b="-139654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9493504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333">
                  <a:solidFill>
                    <a:srgbClr val="F4E9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quarterly sales line from 2011–2014 surfaces the seasonal peaks and shifts in momentum.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72998" y="3852672"/>
            <a:ext cx="702259" cy="702259"/>
            <a:chOff x="0" y="0"/>
            <a:chExt cx="936346" cy="93634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36371" cy="936371"/>
            </a:xfrm>
            <a:custGeom>
              <a:avLst/>
              <a:gdLst/>
              <a:ahLst/>
              <a:cxnLst/>
              <a:rect r="r" b="b" t="t" l="l"/>
              <a:pathLst>
                <a:path h="936371" w="936371">
                  <a:moveTo>
                    <a:pt x="0" y="468122"/>
                  </a:moveTo>
                  <a:cubicBezTo>
                    <a:pt x="0" y="209550"/>
                    <a:pt x="209550" y="0"/>
                    <a:pt x="468122" y="0"/>
                  </a:cubicBezTo>
                  <a:cubicBezTo>
                    <a:pt x="726694" y="0"/>
                    <a:pt x="936371" y="209550"/>
                    <a:pt x="936371" y="468122"/>
                  </a:cubicBezTo>
                  <a:cubicBezTo>
                    <a:pt x="936371" y="726694"/>
                    <a:pt x="726694" y="936371"/>
                    <a:pt x="468122" y="936371"/>
                  </a:cubicBezTo>
                  <a:cubicBezTo>
                    <a:pt x="209550" y="936371"/>
                    <a:pt x="0" y="726694"/>
                    <a:pt x="0" y="468122"/>
                  </a:cubicBezTo>
                  <a:close/>
                </a:path>
              </a:pathLst>
            </a:custGeom>
            <a:solidFill>
              <a:srgbClr val="F2C744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06425" y="4197839"/>
            <a:ext cx="77248" cy="202587"/>
            <a:chOff x="0" y="0"/>
            <a:chExt cx="102997" cy="2701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2997" cy="270129"/>
            </a:xfrm>
            <a:custGeom>
              <a:avLst/>
              <a:gdLst/>
              <a:ahLst/>
              <a:cxnLst/>
              <a:rect r="r" b="b" t="t" l="l"/>
              <a:pathLst>
                <a:path h="270129" w="102997">
                  <a:moveTo>
                    <a:pt x="0" y="0"/>
                  </a:moveTo>
                  <a:lnTo>
                    <a:pt x="102997" y="0"/>
                  </a:lnTo>
                  <a:lnTo>
                    <a:pt x="102997" y="270129"/>
                  </a:lnTo>
                  <a:lnTo>
                    <a:pt x="0" y="270129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25811" y="4090587"/>
            <a:ext cx="77248" cy="309848"/>
            <a:chOff x="0" y="0"/>
            <a:chExt cx="102997" cy="41313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2997" cy="413131"/>
            </a:xfrm>
            <a:custGeom>
              <a:avLst/>
              <a:gdLst/>
              <a:ahLst/>
              <a:cxnLst/>
              <a:rect r="r" b="b" t="t" l="l"/>
              <a:pathLst>
                <a:path h="413131" w="102997">
                  <a:moveTo>
                    <a:pt x="0" y="0"/>
                  </a:moveTo>
                  <a:lnTo>
                    <a:pt x="102997" y="0"/>
                  </a:lnTo>
                  <a:lnTo>
                    <a:pt x="102997" y="413131"/>
                  </a:lnTo>
                  <a:lnTo>
                    <a:pt x="0" y="413131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45197" y="4138260"/>
            <a:ext cx="77248" cy="262176"/>
            <a:chOff x="0" y="0"/>
            <a:chExt cx="102997" cy="34956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2997" cy="349631"/>
            </a:xfrm>
            <a:custGeom>
              <a:avLst/>
              <a:gdLst/>
              <a:ahLst/>
              <a:cxnLst/>
              <a:rect r="r" b="b" t="t" l="l"/>
              <a:pathLst>
                <a:path h="349631" w="102997">
                  <a:moveTo>
                    <a:pt x="0" y="0"/>
                  </a:moveTo>
                  <a:lnTo>
                    <a:pt x="102997" y="0"/>
                  </a:lnTo>
                  <a:lnTo>
                    <a:pt x="102997" y="349631"/>
                  </a:lnTo>
                  <a:lnTo>
                    <a:pt x="0" y="349631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64584" y="4007167"/>
            <a:ext cx="77248" cy="393268"/>
            <a:chOff x="0" y="0"/>
            <a:chExt cx="102997" cy="52435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2997" cy="524383"/>
            </a:xfrm>
            <a:custGeom>
              <a:avLst/>
              <a:gdLst/>
              <a:ahLst/>
              <a:cxnLst/>
              <a:rect r="r" b="b" t="t" l="l"/>
              <a:pathLst>
                <a:path h="524383" w="102997">
                  <a:moveTo>
                    <a:pt x="0" y="0"/>
                  </a:moveTo>
                  <a:lnTo>
                    <a:pt x="102997" y="0"/>
                  </a:lnTo>
                  <a:lnTo>
                    <a:pt x="102997" y="524383"/>
                  </a:lnTo>
                  <a:lnTo>
                    <a:pt x="0" y="524383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609344" y="3794150"/>
            <a:ext cx="7120128" cy="390144"/>
            <a:chOff x="0" y="0"/>
            <a:chExt cx="9493504" cy="5201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493504" cy="520192"/>
            </a:xfrm>
            <a:custGeom>
              <a:avLst/>
              <a:gdLst/>
              <a:ahLst/>
              <a:cxnLst/>
              <a:rect r="r" b="b" t="t" l="l"/>
              <a:pathLst>
                <a:path h="520192" w="9493504">
                  <a:moveTo>
                    <a:pt x="0" y="0"/>
                  </a:moveTo>
                  <a:lnTo>
                    <a:pt x="9493504" y="0"/>
                  </a:lnTo>
                  <a:lnTo>
                    <a:pt x="9493504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5601" r="0" b="-30560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9493504" cy="558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8"/>
                </a:lnSpc>
              </a:pPr>
              <a:r>
                <a:rPr lang="en-US" sz="1706" b="true">
                  <a:solidFill>
                    <a:srgbClr val="D9A9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 &amp; Product Breakdown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609344" y="4184294"/>
            <a:ext cx="7120128" cy="731520"/>
            <a:chOff x="0" y="0"/>
            <a:chExt cx="9493504" cy="9753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493504" cy="975360"/>
            </a:xfrm>
            <a:custGeom>
              <a:avLst/>
              <a:gdLst/>
              <a:ahLst/>
              <a:cxnLst/>
              <a:rect r="r" b="b" t="t" l="l"/>
              <a:pathLst>
                <a:path h="975360" w="9493504">
                  <a:moveTo>
                    <a:pt x="0" y="0"/>
                  </a:moveTo>
                  <a:lnTo>
                    <a:pt x="9493504" y="0"/>
                  </a:lnTo>
                  <a:lnTo>
                    <a:pt x="949350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9654" r="0" b="-13965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66675"/>
              <a:ext cx="9493504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333">
                  <a:solidFill>
                    <a:srgbClr val="F4E9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donut chart and a ranked product list show exactly where the $29M in revenue concentrates.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72998" y="5140147"/>
            <a:ext cx="702259" cy="702259"/>
            <a:chOff x="0" y="0"/>
            <a:chExt cx="936346" cy="93634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36371" cy="936371"/>
            </a:xfrm>
            <a:custGeom>
              <a:avLst/>
              <a:gdLst/>
              <a:ahLst/>
              <a:cxnLst/>
              <a:rect r="r" b="b" t="t" l="l"/>
              <a:pathLst>
                <a:path h="936371" w="936371">
                  <a:moveTo>
                    <a:pt x="0" y="468122"/>
                  </a:moveTo>
                  <a:cubicBezTo>
                    <a:pt x="0" y="209550"/>
                    <a:pt x="209550" y="0"/>
                    <a:pt x="468122" y="0"/>
                  </a:cubicBezTo>
                  <a:cubicBezTo>
                    <a:pt x="726694" y="0"/>
                    <a:pt x="936371" y="209550"/>
                    <a:pt x="936371" y="468122"/>
                  </a:cubicBezTo>
                  <a:cubicBezTo>
                    <a:pt x="936371" y="726694"/>
                    <a:pt x="726694" y="936371"/>
                    <a:pt x="468122" y="936371"/>
                  </a:cubicBezTo>
                  <a:cubicBezTo>
                    <a:pt x="209550" y="936371"/>
                    <a:pt x="0" y="726694"/>
                    <a:pt x="0" y="468122"/>
                  </a:cubicBezTo>
                  <a:close/>
                </a:path>
              </a:pathLst>
            </a:custGeom>
            <a:solidFill>
              <a:srgbClr val="F2C744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806425" y="5485314"/>
            <a:ext cx="77248" cy="202587"/>
            <a:chOff x="0" y="0"/>
            <a:chExt cx="102997" cy="27011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2997" cy="270129"/>
            </a:xfrm>
            <a:custGeom>
              <a:avLst/>
              <a:gdLst/>
              <a:ahLst/>
              <a:cxnLst/>
              <a:rect r="r" b="b" t="t" l="l"/>
              <a:pathLst>
                <a:path h="270129" w="102997">
                  <a:moveTo>
                    <a:pt x="0" y="0"/>
                  </a:moveTo>
                  <a:lnTo>
                    <a:pt x="102997" y="0"/>
                  </a:lnTo>
                  <a:lnTo>
                    <a:pt x="102997" y="270129"/>
                  </a:lnTo>
                  <a:lnTo>
                    <a:pt x="0" y="270129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25811" y="5378063"/>
            <a:ext cx="77248" cy="309848"/>
            <a:chOff x="0" y="0"/>
            <a:chExt cx="102997" cy="41313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2997" cy="413131"/>
            </a:xfrm>
            <a:custGeom>
              <a:avLst/>
              <a:gdLst/>
              <a:ahLst/>
              <a:cxnLst/>
              <a:rect r="r" b="b" t="t" l="l"/>
              <a:pathLst>
                <a:path h="413131" w="102997">
                  <a:moveTo>
                    <a:pt x="0" y="0"/>
                  </a:moveTo>
                  <a:lnTo>
                    <a:pt x="102997" y="0"/>
                  </a:lnTo>
                  <a:lnTo>
                    <a:pt x="102997" y="413131"/>
                  </a:lnTo>
                  <a:lnTo>
                    <a:pt x="0" y="413131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45197" y="5425735"/>
            <a:ext cx="77248" cy="262176"/>
            <a:chOff x="0" y="0"/>
            <a:chExt cx="102997" cy="34956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2997" cy="349631"/>
            </a:xfrm>
            <a:custGeom>
              <a:avLst/>
              <a:gdLst/>
              <a:ahLst/>
              <a:cxnLst/>
              <a:rect r="r" b="b" t="t" l="l"/>
              <a:pathLst>
                <a:path h="349631" w="102997">
                  <a:moveTo>
                    <a:pt x="0" y="0"/>
                  </a:moveTo>
                  <a:lnTo>
                    <a:pt x="102997" y="0"/>
                  </a:lnTo>
                  <a:lnTo>
                    <a:pt x="102997" y="349631"/>
                  </a:lnTo>
                  <a:lnTo>
                    <a:pt x="0" y="349631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64584" y="5294643"/>
            <a:ext cx="77248" cy="393268"/>
            <a:chOff x="0" y="0"/>
            <a:chExt cx="102997" cy="52435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2997" cy="524383"/>
            </a:xfrm>
            <a:custGeom>
              <a:avLst/>
              <a:gdLst/>
              <a:ahLst/>
              <a:cxnLst/>
              <a:rect r="r" b="b" t="t" l="l"/>
              <a:pathLst>
                <a:path h="524383" w="102997">
                  <a:moveTo>
                    <a:pt x="0" y="0"/>
                  </a:moveTo>
                  <a:lnTo>
                    <a:pt x="102997" y="0"/>
                  </a:lnTo>
                  <a:lnTo>
                    <a:pt x="102997" y="524383"/>
                  </a:lnTo>
                  <a:lnTo>
                    <a:pt x="0" y="524383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609344" y="5081626"/>
            <a:ext cx="7120128" cy="390144"/>
            <a:chOff x="0" y="0"/>
            <a:chExt cx="9493504" cy="5201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493504" cy="520192"/>
            </a:xfrm>
            <a:custGeom>
              <a:avLst/>
              <a:gdLst/>
              <a:ahLst/>
              <a:cxnLst/>
              <a:rect r="r" b="b" t="t" l="l"/>
              <a:pathLst>
                <a:path h="520192" w="9493504">
                  <a:moveTo>
                    <a:pt x="0" y="0"/>
                  </a:moveTo>
                  <a:lnTo>
                    <a:pt x="9493504" y="0"/>
                  </a:lnTo>
                  <a:lnTo>
                    <a:pt x="9493504" y="520192"/>
                  </a:lnTo>
                  <a:lnTo>
                    <a:pt x="0" y="5201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5601" r="0" b="-30560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9493504" cy="558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8"/>
                </a:lnSpc>
              </a:pPr>
              <a:r>
                <a:rPr lang="en-US" sz="1706" b="true">
                  <a:solidFill>
                    <a:srgbClr val="D9A9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KPI Summary Cards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609344" y="5471770"/>
            <a:ext cx="7120128" cy="731520"/>
            <a:chOff x="0" y="0"/>
            <a:chExt cx="9493504" cy="9753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493504" cy="975360"/>
            </a:xfrm>
            <a:custGeom>
              <a:avLst/>
              <a:gdLst/>
              <a:ahLst/>
              <a:cxnLst/>
              <a:rect r="r" b="b" t="t" l="l"/>
              <a:pathLst>
                <a:path h="975360" w="9493504">
                  <a:moveTo>
                    <a:pt x="0" y="0"/>
                  </a:moveTo>
                  <a:lnTo>
                    <a:pt x="9493504" y="0"/>
                  </a:lnTo>
                  <a:lnTo>
                    <a:pt x="9493504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9654" r="0" b="-139654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66675"/>
              <a:ext cx="9493504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0"/>
                </a:lnSpc>
              </a:pPr>
              <a:r>
                <a:rPr lang="en-US" sz="1333">
                  <a:solidFill>
                    <a:srgbClr val="F4E9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Order count, customer count, and total sales stay visible at a glance, whatever filters are applied.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8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753600" cy="7315200"/>
            <a:chOff x="0" y="0"/>
            <a:chExt cx="13004800" cy="9753600"/>
          </a:xfrm>
        </p:grpSpPr>
        <p:sp>
          <p:nvSpPr>
            <p:cNvPr name="Freeform 3" id="3" descr="bg_gradient.png"/>
            <p:cNvSpPr/>
            <p:nvPr/>
          </p:nvSpPr>
          <p:spPr>
            <a:xfrm flipH="false" flipV="false" rot="0">
              <a:off x="0" y="0"/>
              <a:ext cx="13004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9753600"/>
                  </a:lnTo>
                  <a:lnTo>
                    <a:pt x="0" y="975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85216" y="409651"/>
            <a:ext cx="8583168" cy="536448"/>
            <a:chOff x="0" y="0"/>
            <a:chExt cx="11444224" cy="7152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44224" cy="715264"/>
            </a:xfrm>
            <a:custGeom>
              <a:avLst/>
              <a:gdLst/>
              <a:ahLst/>
              <a:cxnLst/>
              <a:rect r="r" b="b" t="t" l="l"/>
              <a:pathLst>
                <a:path h="715264" w="11444224">
                  <a:moveTo>
                    <a:pt x="0" y="0"/>
                  </a:moveTo>
                  <a:lnTo>
                    <a:pt x="11444224" y="0"/>
                  </a:lnTo>
                  <a:lnTo>
                    <a:pt x="11444224" y="715264"/>
                  </a:lnTo>
                  <a:lnTo>
                    <a:pt x="0" y="7152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1444224" cy="724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28"/>
                </a:lnSpc>
              </a:pPr>
              <a:r>
                <a:rPr lang="en-US" sz="2773" b="true">
                  <a:solidFill>
                    <a:srgbClr val="D9A94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Skills Demonstrated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85216" y="1316736"/>
            <a:ext cx="4047744" cy="2487168"/>
            <a:chOff x="0" y="0"/>
            <a:chExt cx="5396992" cy="33162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96992" cy="3316224"/>
            </a:xfrm>
            <a:custGeom>
              <a:avLst/>
              <a:gdLst/>
              <a:ahLst/>
              <a:cxnLst/>
              <a:rect r="r" b="b" t="t" l="l"/>
              <a:pathLst>
                <a:path h="3316224" w="5396992">
                  <a:moveTo>
                    <a:pt x="0" y="104013"/>
                  </a:moveTo>
                  <a:cubicBezTo>
                    <a:pt x="0" y="46609"/>
                    <a:pt x="46609" y="0"/>
                    <a:pt x="104013" y="0"/>
                  </a:cubicBezTo>
                  <a:lnTo>
                    <a:pt x="5292979" y="0"/>
                  </a:lnTo>
                  <a:cubicBezTo>
                    <a:pt x="5350383" y="0"/>
                    <a:pt x="5396992" y="46609"/>
                    <a:pt x="5396992" y="104013"/>
                  </a:cubicBezTo>
                  <a:lnTo>
                    <a:pt x="5396992" y="3212211"/>
                  </a:lnTo>
                  <a:cubicBezTo>
                    <a:pt x="5396992" y="3269615"/>
                    <a:pt x="5350383" y="3316224"/>
                    <a:pt x="5292979" y="3316224"/>
                  </a:cubicBezTo>
                  <a:lnTo>
                    <a:pt x="104013" y="3316224"/>
                  </a:lnTo>
                  <a:cubicBezTo>
                    <a:pt x="46609" y="3316224"/>
                    <a:pt x="0" y="3269615"/>
                    <a:pt x="0" y="3212211"/>
                  </a:cubicBezTo>
                  <a:close/>
                </a:path>
              </a:pathLst>
            </a:custGeom>
            <a:solidFill>
              <a:srgbClr val="2A2000">
                <a:alpha val="56078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9056" y="1580083"/>
            <a:ext cx="682752" cy="682752"/>
            <a:chOff x="0" y="0"/>
            <a:chExt cx="910336" cy="9103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0336" cy="910336"/>
            </a:xfrm>
            <a:custGeom>
              <a:avLst/>
              <a:gdLst/>
              <a:ahLst/>
              <a:cxnLst/>
              <a:rect r="r" b="b" t="t" l="l"/>
              <a:pathLst>
                <a:path h="910336" w="910336">
                  <a:moveTo>
                    <a:pt x="0" y="455168"/>
                  </a:moveTo>
                  <a:cubicBezTo>
                    <a:pt x="0" y="203835"/>
                    <a:pt x="203835" y="0"/>
                    <a:pt x="455168" y="0"/>
                  </a:cubicBezTo>
                  <a:cubicBezTo>
                    <a:pt x="706501" y="0"/>
                    <a:pt x="910336" y="203835"/>
                    <a:pt x="910336" y="455168"/>
                  </a:cubicBezTo>
                  <a:cubicBezTo>
                    <a:pt x="910336" y="706501"/>
                    <a:pt x="706501" y="910336"/>
                    <a:pt x="455168" y="910336"/>
                  </a:cubicBezTo>
                  <a:cubicBezTo>
                    <a:pt x="203835" y="910336"/>
                    <a:pt x="0" y="706501"/>
                    <a:pt x="0" y="455168"/>
                  </a:cubicBezTo>
                  <a:close/>
                </a:path>
              </a:pathLst>
            </a:custGeom>
            <a:solidFill>
              <a:srgbClr val="F2C74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58777" y="1915668"/>
            <a:ext cx="75105" cy="196967"/>
            <a:chOff x="0" y="0"/>
            <a:chExt cx="100140" cy="2626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076" cy="262636"/>
            </a:xfrm>
            <a:custGeom>
              <a:avLst/>
              <a:gdLst/>
              <a:ahLst/>
              <a:cxnLst/>
              <a:rect r="r" b="b" t="t" l="l"/>
              <a:pathLst>
                <a:path h="262636" w="100076">
                  <a:moveTo>
                    <a:pt x="0" y="0"/>
                  </a:moveTo>
                  <a:lnTo>
                    <a:pt x="100076" y="0"/>
                  </a:lnTo>
                  <a:lnTo>
                    <a:pt x="100076" y="262636"/>
                  </a:lnTo>
                  <a:lnTo>
                    <a:pt x="0" y="262636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74849" y="1811388"/>
            <a:ext cx="75105" cy="301238"/>
            <a:chOff x="0" y="0"/>
            <a:chExt cx="100140" cy="4016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076" cy="401701"/>
            </a:xfrm>
            <a:custGeom>
              <a:avLst/>
              <a:gdLst/>
              <a:ahLst/>
              <a:cxnLst/>
              <a:rect r="r" b="b" t="t" l="l"/>
              <a:pathLst>
                <a:path h="401701" w="100076">
                  <a:moveTo>
                    <a:pt x="0" y="0"/>
                  </a:moveTo>
                  <a:lnTo>
                    <a:pt x="100076" y="0"/>
                  </a:lnTo>
                  <a:lnTo>
                    <a:pt x="100076" y="401701"/>
                  </a:lnTo>
                  <a:lnTo>
                    <a:pt x="0" y="401701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90911" y="1857737"/>
            <a:ext cx="75105" cy="254899"/>
            <a:chOff x="0" y="0"/>
            <a:chExt cx="100140" cy="3398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076" cy="339852"/>
            </a:xfrm>
            <a:custGeom>
              <a:avLst/>
              <a:gdLst/>
              <a:ahLst/>
              <a:cxnLst/>
              <a:rect r="r" b="b" t="t" l="l"/>
              <a:pathLst>
                <a:path h="339852" w="100076">
                  <a:moveTo>
                    <a:pt x="0" y="0"/>
                  </a:moveTo>
                  <a:lnTo>
                    <a:pt x="100076" y="0"/>
                  </a:lnTo>
                  <a:lnTo>
                    <a:pt x="100076" y="339852"/>
                  </a:lnTo>
                  <a:lnTo>
                    <a:pt x="0" y="339852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06982" y="1730292"/>
            <a:ext cx="75105" cy="382343"/>
            <a:chOff x="0" y="0"/>
            <a:chExt cx="100140" cy="5097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076" cy="509778"/>
            </a:xfrm>
            <a:custGeom>
              <a:avLst/>
              <a:gdLst/>
              <a:ahLst/>
              <a:cxnLst/>
              <a:rect r="r" b="b" t="t" l="l"/>
              <a:pathLst>
                <a:path h="509778" w="100076">
                  <a:moveTo>
                    <a:pt x="0" y="0"/>
                  </a:moveTo>
                  <a:lnTo>
                    <a:pt x="100076" y="0"/>
                  </a:lnTo>
                  <a:lnTo>
                    <a:pt x="100076" y="509778"/>
                  </a:lnTo>
                  <a:lnTo>
                    <a:pt x="0" y="509778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09344" y="1658112"/>
            <a:ext cx="2779776" cy="487680"/>
            <a:chOff x="0" y="0"/>
            <a:chExt cx="3706368" cy="650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706368" cy="650240"/>
            </a:xfrm>
            <a:custGeom>
              <a:avLst/>
              <a:gdLst/>
              <a:ahLst/>
              <a:cxnLst/>
              <a:rect r="r" b="b" t="t" l="l"/>
              <a:pathLst>
                <a:path h="65024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650240"/>
                  </a:lnTo>
                  <a:lnTo>
                    <a:pt x="0" y="65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1064" r="0" b="-6106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706368" cy="68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8"/>
                </a:lnSpc>
              </a:pPr>
              <a:r>
                <a:rPr lang="en-US" sz="1706" b="true">
                  <a:solidFill>
                    <a:srgbClr val="D9A9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Modeling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26592" y="2438400"/>
            <a:ext cx="3364992" cy="1121664"/>
            <a:chOff x="0" y="0"/>
            <a:chExt cx="4486656" cy="14955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486656" cy="1495552"/>
            </a:xfrm>
            <a:custGeom>
              <a:avLst/>
              <a:gdLst/>
              <a:ahLst/>
              <a:cxnLst/>
              <a:rect r="r" b="b" t="t" l="l"/>
              <a:pathLst>
                <a:path h="1495552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1495552"/>
                  </a:lnTo>
                  <a:lnTo>
                    <a:pt x="0" y="14955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4486656" cy="1571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0"/>
                </a:lnSpc>
              </a:pPr>
              <a:r>
                <a:rPr lang="en-US" sz="1333">
                  <a:solidFill>
                    <a:srgbClr val="F4E9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Structured sales, customer, and product tables into a clean relational model for fast, accurate queries.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925568" y="1316736"/>
            <a:ext cx="4047744" cy="2487168"/>
            <a:chOff x="0" y="0"/>
            <a:chExt cx="5396992" cy="33162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96992" cy="3316224"/>
            </a:xfrm>
            <a:custGeom>
              <a:avLst/>
              <a:gdLst/>
              <a:ahLst/>
              <a:cxnLst/>
              <a:rect r="r" b="b" t="t" l="l"/>
              <a:pathLst>
                <a:path h="3316224" w="5396992">
                  <a:moveTo>
                    <a:pt x="0" y="104013"/>
                  </a:moveTo>
                  <a:cubicBezTo>
                    <a:pt x="0" y="46609"/>
                    <a:pt x="46609" y="0"/>
                    <a:pt x="104013" y="0"/>
                  </a:cubicBezTo>
                  <a:lnTo>
                    <a:pt x="5292979" y="0"/>
                  </a:lnTo>
                  <a:cubicBezTo>
                    <a:pt x="5350383" y="0"/>
                    <a:pt x="5396992" y="46609"/>
                    <a:pt x="5396992" y="104013"/>
                  </a:cubicBezTo>
                  <a:lnTo>
                    <a:pt x="5396992" y="3212211"/>
                  </a:lnTo>
                  <a:cubicBezTo>
                    <a:pt x="5396992" y="3269615"/>
                    <a:pt x="5350383" y="3316224"/>
                    <a:pt x="5292979" y="3316224"/>
                  </a:cubicBezTo>
                  <a:lnTo>
                    <a:pt x="104013" y="3316224"/>
                  </a:lnTo>
                  <a:cubicBezTo>
                    <a:pt x="46609" y="3316224"/>
                    <a:pt x="0" y="3269615"/>
                    <a:pt x="0" y="3212211"/>
                  </a:cubicBezTo>
                  <a:close/>
                </a:path>
              </a:pathLst>
            </a:custGeom>
            <a:solidFill>
              <a:srgbClr val="2A2000">
                <a:alpha val="56078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169408" y="1580083"/>
            <a:ext cx="682752" cy="682752"/>
            <a:chOff x="0" y="0"/>
            <a:chExt cx="910336" cy="9103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0336" cy="910336"/>
            </a:xfrm>
            <a:custGeom>
              <a:avLst/>
              <a:gdLst/>
              <a:ahLst/>
              <a:cxnLst/>
              <a:rect r="r" b="b" t="t" l="l"/>
              <a:pathLst>
                <a:path h="910336" w="910336">
                  <a:moveTo>
                    <a:pt x="0" y="455168"/>
                  </a:moveTo>
                  <a:cubicBezTo>
                    <a:pt x="0" y="203835"/>
                    <a:pt x="203835" y="0"/>
                    <a:pt x="455168" y="0"/>
                  </a:cubicBezTo>
                  <a:cubicBezTo>
                    <a:pt x="706501" y="0"/>
                    <a:pt x="910336" y="203835"/>
                    <a:pt x="910336" y="455168"/>
                  </a:cubicBezTo>
                  <a:cubicBezTo>
                    <a:pt x="910336" y="706501"/>
                    <a:pt x="706501" y="910336"/>
                    <a:pt x="455168" y="910336"/>
                  </a:cubicBezTo>
                  <a:cubicBezTo>
                    <a:pt x="203835" y="910336"/>
                    <a:pt x="0" y="706501"/>
                    <a:pt x="0" y="455168"/>
                  </a:cubicBezTo>
                  <a:close/>
                </a:path>
              </a:pathLst>
            </a:custGeom>
            <a:solidFill>
              <a:srgbClr val="F2C74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299129" y="1915668"/>
            <a:ext cx="75105" cy="196967"/>
            <a:chOff x="0" y="0"/>
            <a:chExt cx="100140" cy="26262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076" cy="262636"/>
            </a:xfrm>
            <a:custGeom>
              <a:avLst/>
              <a:gdLst/>
              <a:ahLst/>
              <a:cxnLst/>
              <a:rect r="r" b="b" t="t" l="l"/>
              <a:pathLst>
                <a:path h="262636" w="100076">
                  <a:moveTo>
                    <a:pt x="0" y="0"/>
                  </a:moveTo>
                  <a:lnTo>
                    <a:pt x="100076" y="0"/>
                  </a:lnTo>
                  <a:lnTo>
                    <a:pt x="100076" y="262636"/>
                  </a:lnTo>
                  <a:lnTo>
                    <a:pt x="0" y="262636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415201" y="1811388"/>
            <a:ext cx="75105" cy="301238"/>
            <a:chOff x="0" y="0"/>
            <a:chExt cx="100140" cy="4016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0076" cy="401701"/>
            </a:xfrm>
            <a:custGeom>
              <a:avLst/>
              <a:gdLst/>
              <a:ahLst/>
              <a:cxnLst/>
              <a:rect r="r" b="b" t="t" l="l"/>
              <a:pathLst>
                <a:path h="401701" w="100076">
                  <a:moveTo>
                    <a:pt x="0" y="0"/>
                  </a:moveTo>
                  <a:lnTo>
                    <a:pt x="100076" y="0"/>
                  </a:lnTo>
                  <a:lnTo>
                    <a:pt x="100076" y="401701"/>
                  </a:lnTo>
                  <a:lnTo>
                    <a:pt x="0" y="401701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531263" y="1857737"/>
            <a:ext cx="75105" cy="254899"/>
            <a:chOff x="0" y="0"/>
            <a:chExt cx="100140" cy="33986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0076" cy="339852"/>
            </a:xfrm>
            <a:custGeom>
              <a:avLst/>
              <a:gdLst/>
              <a:ahLst/>
              <a:cxnLst/>
              <a:rect r="r" b="b" t="t" l="l"/>
              <a:pathLst>
                <a:path h="339852" w="100076">
                  <a:moveTo>
                    <a:pt x="0" y="0"/>
                  </a:moveTo>
                  <a:lnTo>
                    <a:pt x="100076" y="0"/>
                  </a:lnTo>
                  <a:lnTo>
                    <a:pt x="100076" y="339852"/>
                  </a:lnTo>
                  <a:lnTo>
                    <a:pt x="0" y="339852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647334" y="1730292"/>
            <a:ext cx="75105" cy="382343"/>
            <a:chOff x="0" y="0"/>
            <a:chExt cx="100140" cy="5097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076" cy="509778"/>
            </a:xfrm>
            <a:custGeom>
              <a:avLst/>
              <a:gdLst/>
              <a:ahLst/>
              <a:cxnLst/>
              <a:rect r="r" b="b" t="t" l="l"/>
              <a:pathLst>
                <a:path h="509778" w="100076">
                  <a:moveTo>
                    <a:pt x="0" y="0"/>
                  </a:moveTo>
                  <a:lnTo>
                    <a:pt x="100076" y="0"/>
                  </a:lnTo>
                  <a:lnTo>
                    <a:pt x="100076" y="509778"/>
                  </a:lnTo>
                  <a:lnTo>
                    <a:pt x="0" y="509778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949696" y="1658112"/>
            <a:ext cx="2779776" cy="487680"/>
            <a:chOff x="0" y="0"/>
            <a:chExt cx="3706368" cy="6502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706368" cy="650240"/>
            </a:xfrm>
            <a:custGeom>
              <a:avLst/>
              <a:gdLst/>
              <a:ahLst/>
              <a:cxnLst/>
              <a:rect r="r" b="b" t="t" l="l"/>
              <a:pathLst>
                <a:path h="65024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650240"/>
                  </a:lnTo>
                  <a:lnTo>
                    <a:pt x="0" y="65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1064" r="0" b="-6106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706368" cy="68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8"/>
                </a:lnSpc>
              </a:pPr>
              <a:r>
                <a:rPr lang="en-US" sz="1706" b="true">
                  <a:solidFill>
                    <a:srgbClr val="D9A9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DAX Measures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266944" y="2438400"/>
            <a:ext cx="3364992" cy="1121664"/>
            <a:chOff x="0" y="0"/>
            <a:chExt cx="4486656" cy="14955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486656" cy="1495552"/>
            </a:xfrm>
            <a:custGeom>
              <a:avLst/>
              <a:gdLst/>
              <a:ahLst/>
              <a:cxnLst/>
              <a:rect r="r" b="b" t="t" l="l"/>
              <a:pathLst>
                <a:path h="1495552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1495552"/>
                  </a:lnTo>
                  <a:lnTo>
                    <a:pt x="0" y="14955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76200"/>
              <a:ext cx="4486656" cy="1571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0"/>
                </a:lnSpc>
              </a:pPr>
              <a:r>
                <a:rPr lang="en-US" sz="1333">
                  <a:solidFill>
                    <a:srgbClr val="F4E9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Built calculated measures for totals, distinct counts, and category-level breakdowns.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85216" y="4096512"/>
            <a:ext cx="4047744" cy="2487168"/>
            <a:chOff x="0" y="0"/>
            <a:chExt cx="5396992" cy="331622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96992" cy="3316224"/>
            </a:xfrm>
            <a:custGeom>
              <a:avLst/>
              <a:gdLst/>
              <a:ahLst/>
              <a:cxnLst/>
              <a:rect r="r" b="b" t="t" l="l"/>
              <a:pathLst>
                <a:path h="3316224" w="5396992">
                  <a:moveTo>
                    <a:pt x="0" y="104013"/>
                  </a:moveTo>
                  <a:cubicBezTo>
                    <a:pt x="0" y="46609"/>
                    <a:pt x="46609" y="0"/>
                    <a:pt x="104013" y="0"/>
                  </a:cubicBezTo>
                  <a:lnTo>
                    <a:pt x="5292979" y="0"/>
                  </a:lnTo>
                  <a:cubicBezTo>
                    <a:pt x="5350383" y="0"/>
                    <a:pt x="5396992" y="46609"/>
                    <a:pt x="5396992" y="104013"/>
                  </a:cubicBezTo>
                  <a:lnTo>
                    <a:pt x="5396992" y="3212211"/>
                  </a:lnTo>
                  <a:cubicBezTo>
                    <a:pt x="5396992" y="3269615"/>
                    <a:pt x="5350383" y="3316224"/>
                    <a:pt x="5292979" y="3316224"/>
                  </a:cubicBezTo>
                  <a:lnTo>
                    <a:pt x="104013" y="3316224"/>
                  </a:lnTo>
                  <a:cubicBezTo>
                    <a:pt x="46609" y="3316224"/>
                    <a:pt x="0" y="3269615"/>
                    <a:pt x="0" y="3212211"/>
                  </a:cubicBezTo>
                  <a:close/>
                </a:path>
              </a:pathLst>
            </a:custGeom>
            <a:solidFill>
              <a:srgbClr val="2A2000">
                <a:alpha val="56078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29056" y="4359859"/>
            <a:ext cx="682752" cy="682752"/>
            <a:chOff x="0" y="0"/>
            <a:chExt cx="910336" cy="9103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0336" cy="910336"/>
            </a:xfrm>
            <a:custGeom>
              <a:avLst/>
              <a:gdLst/>
              <a:ahLst/>
              <a:cxnLst/>
              <a:rect r="r" b="b" t="t" l="l"/>
              <a:pathLst>
                <a:path h="910336" w="910336">
                  <a:moveTo>
                    <a:pt x="0" y="455168"/>
                  </a:moveTo>
                  <a:cubicBezTo>
                    <a:pt x="0" y="203835"/>
                    <a:pt x="203835" y="0"/>
                    <a:pt x="455168" y="0"/>
                  </a:cubicBezTo>
                  <a:cubicBezTo>
                    <a:pt x="706501" y="0"/>
                    <a:pt x="910336" y="203835"/>
                    <a:pt x="910336" y="455168"/>
                  </a:cubicBezTo>
                  <a:cubicBezTo>
                    <a:pt x="910336" y="706501"/>
                    <a:pt x="706501" y="910336"/>
                    <a:pt x="455168" y="910336"/>
                  </a:cubicBezTo>
                  <a:cubicBezTo>
                    <a:pt x="203835" y="910336"/>
                    <a:pt x="0" y="706501"/>
                    <a:pt x="0" y="455168"/>
                  </a:cubicBezTo>
                  <a:close/>
                </a:path>
              </a:pathLst>
            </a:custGeom>
            <a:solidFill>
              <a:srgbClr val="F2C744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58777" y="4695444"/>
            <a:ext cx="75105" cy="196967"/>
            <a:chOff x="0" y="0"/>
            <a:chExt cx="100140" cy="26262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0076" cy="262636"/>
            </a:xfrm>
            <a:custGeom>
              <a:avLst/>
              <a:gdLst/>
              <a:ahLst/>
              <a:cxnLst/>
              <a:rect r="r" b="b" t="t" l="l"/>
              <a:pathLst>
                <a:path h="262636" w="100076">
                  <a:moveTo>
                    <a:pt x="0" y="0"/>
                  </a:moveTo>
                  <a:lnTo>
                    <a:pt x="100076" y="0"/>
                  </a:lnTo>
                  <a:lnTo>
                    <a:pt x="100076" y="262636"/>
                  </a:lnTo>
                  <a:lnTo>
                    <a:pt x="0" y="262636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74849" y="4591164"/>
            <a:ext cx="75105" cy="301238"/>
            <a:chOff x="0" y="0"/>
            <a:chExt cx="100140" cy="4016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0076" cy="401701"/>
            </a:xfrm>
            <a:custGeom>
              <a:avLst/>
              <a:gdLst/>
              <a:ahLst/>
              <a:cxnLst/>
              <a:rect r="r" b="b" t="t" l="l"/>
              <a:pathLst>
                <a:path h="401701" w="100076">
                  <a:moveTo>
                    <a:pt x="0" y="0"/>
                  </a:moveTo>
                  <a:lnTo>
                    <a:pt x="100076" y="0"/>
                  </a:lnTo>
                  <a:lnTo>
                    <a:pt x="100076" y="401701"/>
                  </a:lnTo>
                  <a:lnTo>
                    <a:pt x="0" y="401701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90911" y="4637513"/>
            <a:ext cx="75105" cy="254899"/>
            <a:chOff x="0" y="0"/>
            <a:chExt cx="100140" cy="33986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0076" cy="339852"/>
            </a:xfrm>
            <a:custGeom>
              <a:avLst/>
              <a:gdLst/>
              <a:ahLst/>
              <a:cxnLst/>
              <a:rect r="r" b="b" t="t" l="l"/>
              <a:pathLst>
                <a:path h="339852" w="100076">
                  <a:moveTo>
                    <a:pt x="0" y="0"/>
                  </a:moveTo>
                  <a:lnTo>
                    <a:pt x="100076" y="0"/>
                  </a:lnTo>
                  <a:lnTo>
                    <a:pt x="100076" y="339852"/>
                  </a:lnTo>
                  <a:lnTo>
                    <a:pt x="0" y="339852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306982" y="4510068"/>
            <a:ext cx="75105" cy="382343"/>
            <a:chOff x="0" y="0"/>
            <a:chExt cx="100140" cy="50979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0076" cy="509778"/>
            </a:xfrm>
            <a:custGeom>
              <a:avLst/>
              <a:gdLst/>
              <a:ahLst/>
              <a:cxnLst/>
              <a:rect r="r" b="b" t="t" l="l"/>
              <a:pathLst>
                <a:path h="509778" w="100076">
                  <a:moveTo>
                    <a:pt x="0" y="0"/>
                  </a:moveTo>
                  <a:lnTo>
                    <a:pt x="100076" y="0"/>
                  </a:lnTo>
                  <a:lnTo>
                    <a:pt x="100076" y="509778"/>
                  </a:lnTo>
                  <a:lnTo>
                    <a:pt x="0" y="509778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609344" y="4437888"/>
            <a:ext cx="2779776" cy="487680"/>
            <a:chOff x="0" y="0"/>
            <a:chExt cx="3706368" cy="6502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706368" cy="650240"/>
            </a:xfrm>
            <a:custGeom>
              <a:avLst/>
              <a:gdLst/>
              <a:ahLst/>
              <a:cxnLst/>
              <a:rect r="r" b="b" t="t" l="l"/>
              <a:pathLst>
                <a:path h="65024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650240"/>
                  </a:lnTo>
                  <a:lnTo>
                    <a:pt x="0" y="65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1064" r="0" b="-6106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3706368" cy="68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8"/>
                </a:lnSpc>
              </a:pPr>
              <a:r>
                <a:rPr lang="en-US" sz="1706" b="true">
                  <a:solidFill>
                    <a:srgbClr val="D9A9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Interactive Visuals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26592" y="5218176"/>
            <a:ext cx="3364992" cy="1121664"/>
            <a:chOff x="0" y="0"/>
            <a:chExt cx="4486656" cy="14955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486656" cy="1495552"/>
            </a:xfrm>
            <a:custGeom>
              <a:avLst/>
              <a:gdLst/>
              <a:ahLst/>
              <a:cxnLst/>
              <a:rect r="r" b="b" t="t" l="l"/>
              <a:pathLst>
                <a:path h="1495552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1495552"/>
                  </a:lnTo>
                  <a:lnTo>
                    <a:pt x="0" y="14955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76200"/>
              <a:ext cx="4486656" cy="1571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0"/>
                </a:lnSpc>
              </a:pPr>
              <a:r>
                <a:rPr lang="en-US" sz="1333">
                  <a:solidFill>
                    <a:srgbClr val="F4E9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Cross-filtering slicers, KPI cards, and charts that respond instantly to every selection.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4925568" y="4096512"/>
            <a:ext cx="4047744" cy="2487168"/>
            <a:chOff x="0" y="0"/>
            <a:chExt cx="5396992" cy="331622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396992" cy="3316224"/>
            </a:xfrm>
            <a:custGeom>
              <a:avLst/>
              <a:gdLst/>
              <a:ahLst/>
              <a:cxnLst/>
              <a:rect r="r" b="b" t="t" l="l"/>
              <a:pathLst>
                <a:path h="3316224" w="5396992">
                  <a:moveTo>
                    <a:pt x="0" y="104013"/>
                  </a:moveTo>
                  <a:cubicBezTo>
                    <a:pt x="0" y="46609"/>
                    <a:pt x="46609" y="0"/>
                    <a:pt x="104013" y="0"/>
                  </a:cubicBezTo>
                  <a:lnTo>
                    <a:pt x="5292979" y="0"/>
                  </a:lnTo>
                  <a:cubicBezTo>
                    <a:pt x="5350383" y="0"/>
                    <a:pt x="5396992" y="46609"/>
                    <a:pt x="5396992" y="104013"/>
                  </a:cubicBezTo>
                  <a:lnTo>
                    <a:pt x="5396992" y="3212211"/>
                  </a:lnTo>
                  <a:cubicBezTo>
                    <a:pt x="5396992" y="3269615"/>
                    <a:pt x="5350383" y="3316224"/>
                    <a:pt x="5292979" y="3316224"/>
                  </a:cubicBezTo>
                  <a:lnTo>
                    <a:pt x="104013" y="3316224"/>
                  </a:lnTo>
                  <a:cubicBezTo>
                    <a:pt x="46609" y="3316224"/>
                    <a:pt x="0" y="3269615"/>
                    <a:pt x="0" y="3212211"/>
                  </a:cubicBezTo>
                  <a:close/>
                </a:path>
              </a:pathLst>
            </a:custGeom>
            <a:solidFill>
              <a:srgbClr val="2A2000">
                <a:alpha val="56078"/>
              </a:srgbClr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5169408" y="4359859"/>
            <a:ext cx="682752" cy="682752"/>
            <a:chOff x="0" y="0"/>
            <a:chExt cx="910336" cy="91033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10336" cy="910336"/>
            </a:xfrm>
            <a:custGeom>
              <a:avLst/>
              <a:gdLst/>
              <a:ahLst/>
              <a:cxnLst/>
              <a:rect r="r" b="b" t="t" l="l"/>
              <a:pathLst>
                <a:path h="910336" w="910336">
                  <a:moveTo>
                    <a:pt x="0" y="455168"/>
                  </a:moveTo>
                  <a:cubicBezTo>
                    <a:pt x="0" y="203835"/>
                    <a:pt x="203835" y="0"/>
                    <a:pt x="455168" y="0"/>
                  </a:cubicBezTo>
                  <a:cubicBezTo>
                    <a:pt x="706501" y="0"/>
                    <a:pt x="910336" y="203835"/>
                    <a:pt x="910336" y="455168"/>
                  </a:cubicBezTo>
                  <a:cubicBezTo>
                    <a:pt x="910336" y="706501"/>
                    <a:pt x="706501" y="910336"/>
                    <a:pt x="455168" y="910336"/>
                  </a:cubicBezTo>
                  <a:cubicBezTo>
                    <a:pt x="203835" y="910336"/>
                    <a:pt x="0" y="706501"/>
                    <a:pt x="0" y="455168"/>
                  </a:cubicBezTo>
                  <a:close/>
                </a:path>
              </a:pathLst>
            </a:custGeom>
            <a:solidFill>
              <a:srgbClr val="F2C744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5299129" y="4695444"/>
            <a:ext cx="75105" cy="196967"/>
            <a:chOff x="0" y="0"/>
            <a:chExt cx="100140" cy="26262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0076" cy="262636"/>
            </a:xfrm>
            <a:custGeom>
              <a:avLst/>
              <a:gdLst/>
              <a:ahLst/>
              <a:cxnLst/>
              <a:rect r="r" b="b" t="t" l="l"/>
              <a:pathLst>
                <a:path h="262636" w="100076">
                  <a:moveTo>
                    <a:pt x="0" y="0"/>
                  </a:moveTo>
                  <a:lnTo>
                    <a:pt x="100076" y="0"/>
                  </a:lnTo>
                  <a:lnTo>
                    <a:pt x="100076" y="262636"/>
                  </a:lnTo>
                  <a:lnTo>
                    <a:pt x="0" y="262636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5415201" y="4591164"/>
            <a:ext cx="75105" cy="301238"/>
            <a:chOff x="0" y="0"/>
            <a:chExt cx="100140" cy="40165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0076" cy="401701"/>
            </a:xfrm>
            <a:custGeom>
              <a:avLst/>
              <a:gdLst/>
              <a:ahLst/>
              <a:cxnLst/>
              <a:rect r="r" b="b" t="t" l="l"/>
              <a:pathLst>
                <a:path h="401701" w="100076">
                  <a:moveTo>
                    <a:pt x="0" y="0"/>
                  </a:moveTo>
                  <a:lnTo>
                    <a:pt x="100076" y="0"/>
                  </a:lnTo>
                  <a:lnTo>
                    <a:pt x="100076" y="401701"/>
                  </a:lnTo>
                  <a:lnTo>
                    <a:pt x="0" y="401701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5531263" y="4637513"/>
            <a:ext cx="75105" cy="254899"/>
            <a:chOff x="0" y="0"/>
            <a:chExt cx="100140" cy="33986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0076" cy="339852"/>
            </a:xfrm>
            <a:custGeom>
              <a:avLst/>
              <a:gdLst/>
              <a:ahLst/>
              <a:cxnLst/>
              <a:rect r="r" b="b" t="t" l="l"/>
              <a:pathLst>
                <a:path h="339852" w="100076">
                  <a:moveTo>
                    <a:pt x="0" y="0"/>
                  </a:moveTo>
                  <a:lnTo>
                    <a:pt x="100076" y="0"/>
                  </a:lnTo>
                  <a:lnTo>
                    <a:pt x="100076" y="339852"/>
                  </a:lnTo>
                  <a:lnTo>
                    <a:pt x="0" y="339852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5647334" y="4510068"/>
            <a:ext cx="75105" cy="382343"/>
            <a:chOff x="0" y="0"/>
            <a:chExt cx="100140" cy="50979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0076" cy="509778"/>
            </a:xfrm>
            <a:custGeom>
              <a:avLst/>
              <a:gdLst/>
              <a:ahLst/>
              <a:cxnLst/>
              <a:rect r="r" b="b" t="t" l="l"/>
              <a:pathLst>
                <a:path h="509778" w="100076">
                  <a:moveTo>
                    <a:pt x="0" y="0"/>
                  </a:moveTo>
                  <a:lnTo>
                    <a:pt x="100076" y="0"/>
                  </a:lnTo>
                  <a:lnTo>
                    <a:pt x="100076" y="509778"/>
                  </a:lnTo>
                  <a:lnTo>
                    <a:pt x="0" y="509778"/>
                  </a:lnTo>
                  <a:close/>
                </a:path>
              </a:pathLst>
            </a:custGeom>
            <a:solidFill>
              <a:srgbClr val="443129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5949696" y="4437888"/>
            <a:ext cx="2779776" cy="487680"/>
            <a:chOff x="0" y="0"/>
            <a:chExt cx="3706368" cy="6502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706368" cy="650240"/>
            </a:xfrm>
            <a:custGeom>
              <a:avLst/>
              <a:gdLst/>
              <a:ahLst/>
              <a:cxnLst/>
              <a:rect r="r" b="b" t="t" l="l"/>
              <a:pathLst>
                <a:path h="650240" w="3706368">
                  <a:moveTo>
                    <a:pt x="0" y="0"/>
                  </a:moveTo>
                  <a:lnTo>
                    <a:pt x="3706368" y="0"/>
                  </a:lnTo>
                  <a:lnTo>
                    <a:pt x="3706368" y="650240"/>
                  </a:lnTo>
                  <a:lnTo>
                    <a:pt x="0" y="65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1064" r="0" b="-6106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3706368" cy="68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8"/>
                </a:lnSpc>
              </a:pPr>
              <a:r>
                <a:rPr lang="en-US" sz="1706" b="true">
                  <a:solidFill>
                    <a:srgbClr val="D9A94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Design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5266944" y="5218176"/>
            <a:ext cx="3364992" cy="1121664"/>
            <a:chOff x="0" y="0"/>
            <a:chExt cx="4486656" cy="149555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486656" cy="1495552"/>
            </a:xfrm>
            <a:custGeom>
              <a:avLst/>
              <a:gdLst/>
              <a:ahLst/>
              <a:cxnLst/>
              <a:rect r="r" b="b" t="t" l="l"/>
              <a:pathLst>
                <a:path h="1495552" w="4486656">
                  <a:moveTo>
                    <a:pt x="0" y="0"/>
                  </a:moveTo>
                  <a:lnTo>
                    <a:pt x="4486656" y="0"/>
                  </a:lnTo>
                  <a:lnTo>
                    <a:pt x="4486656" y="1495552"/>
                  </a:lnTo>
                  <a:lnTo>
                    <a:pt x="0" y="14955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76200"/>
              <a:ext cx="4486656" cy="15717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00"/>
                </a:lnSpc>
              </a:pPr>
              <a:r>
                <a:rPr lang="en-US" sz="1333">
                  <a:solidFill>
                    <a:srgbClr val="F4E9D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single-page layout that balances density and readability across summary and detail views.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0" y="6778752"/>
            <a:ext cx="9753600" cy="292608"/>
            <a:chOff x="0" y="0"/>
            <a:chExt cx="13004800" cy="39014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3004800" cy="390144"/>
            </a:xfrm>
            <a:custGeom>
              <a:avLst/>
              <a:gdLst/>
              <a:ahLst/>
              <a:cxnLst/>
              <a:rect r="r" b="b" t="t" l="l"/>
              <a:pathLst>
                <a:path h="390144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390144"/>
                  </a:lnTo>
                  <a:lnTo>
                    <a:pt x="0" y="3901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99501" r="0" b="-59950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13004800" cy="418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79"/>
                </a:lnSpc>
              </a:pPr>
              <a:r>
                <a:rPr lang="en-US" b="true" sz="1066" spc="213">
                  <a:solidFill>
                    <a:srgbClr val="C5BD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 OF AN ONGOING POWER BI + COPILOT PORTFOLIO PROJECT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0" y="7022592"/>
            <a:ext cx="9753600" cy="243840"/>
            <a:chOff x="0" y="0"/>
            <a:chExt cx="13004800" cy="3251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3004800" cy="325120"/>
            </a:xfrm>
            <a:custGeom>
              <a:avLst/>
              <a:gdLst/>
              <a:ahLst/>
              <a:cxnLst/>
              <a:rect r="r" b="b" t="t" l="l"/>
              <a:pathLst>
                <a:path h="325120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325120"/>
                  </a:lnTo>
                  <a:lnTo>
                    <a:pt x="0" y="325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29401" r="0" b="-72940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13004800" cy="353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15"/>
                </a:lnSpc>
              </a:pPr>
              <a:r>
                <a:rPr lang="en-US" sz="1013">
                  <a:solidFill>
                    <a:srgbClr val="C5BD7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Anna Pauseiro  ·  Data &amp; Audit Analyst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DAHVXBxs3DI</dc:identifier>
  <dcterms:modified xsi:type="dcterms:W3CDTF">2011-08-01T06:04:30Z</dcterms:modified>
  <cp:revision>1</cp:revision>
  <dc:title>Power_BI_Sales_Dashboard_Presentation.pptx</dc:title>
</cp:coreProperties>
</file>