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753600" cy="7315200"/>
  <p:notesSz cx="6858000" cy="9144000"/>
  <p:embeddedFontLs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Arimo Italics" charset="1" panose="020B0604020202090204"/>
      <p:regular r:id="rId16"/>
    </p:embeddedFont>
    <p:embeddedFont>
      <p:font typeface="Courier New" charset="1" panose="020703090202050204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1.png" Type="http://schemas.openxmlformats.org/officeDocument/2006/relationships/image"/><Relationship Id="rId6" Target="../media/image3.png" Type="http://schemas.openxmlformats.org/officeDocument/2006/relationships/image"/><Relationship Id="rId7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752" y="829056"/>
            <a:ext cx="2633472" cy="409651"/>
            <a:chOff x="0" y="0"/>
            <a:chExt cx="3511296" cy="5462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11296" cy="546100"/>
            </a:xfrm>
            <a:custGeom>
              <a:avLst/>
              <a:gdLst/>
              <a:ahLst/>
              <a:cxnLst/>
              <a:rect r="r" b="b" t="t" l="l"/>
              <a:pathLst>
                <a:path h="546100" w="3511296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3238246" y="0"/>
                  </a:lnTo>
                  <a:cubicBezTo>
                    <a:pt x="3389122" y="0"/>
                    <a:pt x="3511296" y="122301"/>
                    <a:pt x="3511296" y="273050"/>
                  </a:cubicBezTo>
                  <a:cubicBezTo>
                    <a:pt x="3511296" y="423799"/>
                    <a:pt x="3388995" y="546100"/>
                    <a:pt x="3238246" y="546100"/>
                  </a:cubicBezTo>
                  <a:lnTo>
                    <a:pt x="273050" y="546100"/>
                  </a:lnTo>
                  <a:cubicBezTo>
                    <a:pt x="122301" y="546227"/>
                    <a:pt x="0" y="423926"/>
                    <a:pt x="0" y="273050"/>
                  </a:cubicBezTo>
                  <a:close/>
                </a:path>
              </a:pathLst>
            </a:custGeom>
            <a:solidFill>
              <a:srgbClr val="CBAA5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2752" y="829056"/>
            <a:ext cx="2633472" cy="409651"/>
            <a:chOff x="0" y="0"/>
            <a:chExt cx="3511296" cy="546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1296" cy="546202"/>
            </a:xfrm>
            <a:custGeom>
              <a:avLst/>
              <a:gdLst/>
              <a:ahLst/>
              <a:cxnLst/>
              <a:rect r="r" b="b" t="t" l="l"/>
              <a:pathLst>
                <a:path h="546202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546202"/>
                  </a:lnTo>
                  <a:lnTo>
                    <a:pt x="0" y="546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511296" cy="5652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7"/>
                </a:lnSpc>
              </a:pPr>
              <a:r>
                <a:rPr lang="en-US" b="true" sz="1173" spc="106">
                  <a:solidFill>
                    <a:srgbClr val="1F180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PORTFOLIO ANALYTICS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02573" y="770125"/>
            <a:ext cx="1483357" cy="1483357"/>
            <a:chOff x="0" y="0"/>
            <a:chExt cx="1977809" cy="19778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7898" cy="1977898"/>
            </a:xfrm>
            <a:custGeom>
              <a:avLst/>
              <a:gdLst/>
              <a:ahLst/>
              <a:cxnLst/>
              <a:rect r="r" b="b" t="t" l="l"/>
              <a:pathLst>
                <a:path h="1977898" w="1977898">
                  <a:moveTo>
                    <a:pt x="0" y="988949"/>
                  </a:moveTo>
                  <a:cubicBezTo>
                    <a:pt x="0" y="442722"/>
                    <a:pt x="442722" y="0"/>
                    <a:pt x="988949" y="0"/>
                  </a:cubicBezTo>
                  <a:cubicBezTo>
                    <a:pt x="1535176" y="0"/>
                    <a:pt x="1977898" y="442722"/>
                    <a:pt x="1977898" y="988949"/>
                  </a:cubicBezTo>
                  <a:cubicBezTo>
                    <a:pt x="1977898" y="1535176"/>
                    <a:pt x="1535176" y="1977898"/>
                    <a:pt x="988949" y="1977898"/>
                  </a:cubicBezTo>
                  <a:cubicBezTo>
                    <a:pt x="442722" y="1977898"/>
                    <a:pt x="0" y="1535049"/>
                    <a:pt x="0" y="988949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617562" y="985114"/>
            <a:ext cx="1053389" cy="1053389"/>
            <a:chOff x="0" y="0"/>
            <a:chExt cx="1404518" cy="1404518"/>
          </a:xfrm>
        </p:grpSpPr>
        <p:sp>
          <p:nvSpPr>
            <p:cNvPr name="Freeform 14" id="14" descr="/tmp/claude-0/-home-claude/17adb65a-2095-52b1-b277-2d40dd9b0baa/scratchpad/deck/assets/icon-trending-gold.png"/>
            <p:cNvSpPr/>
            <p:nvPr/>
          </p:nvSpPr>
          <p:spPr>
            <a:xfrm flipH="false" flipV="false" rot="0">
              <a:off x="0" y="0"/>
              <a:ext cx="1404493" cy="1404493"/>
            </a:xfrm>
            <a:custGeom>
              <a:avLst/>
              <a:gdLst/>
              <a:ahLst/>
              <a:cxnLst/>
              <a:rect r="r" b="b" t="t" l="l"/>
              <a:pathLst>
                <a:path h="1404493" w="1404493">
                  <a:moveTo>
                    <a:pt x="0" y="0"/>
                  </a:moveTo>
                  <a:lnTo>
                    <a:pt x="1404493" y="0"/>
                  </a:lnTo>
                  <a:lnTo>
                    <a:pt x="1404493" y="1404493"/>
                  </a:lnTo>
                  <a:lnTo>
                    <a:pt x="0" y="140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3984" y="2487168"/>
            <a:ext cx="9119616" cy="2038297"/>
            <a:chOff x="0" y="0"/>
            <a:chExt cx="12159488" cy="2717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59488" cy="2717729"/>
            </a:xfrm>
            <a:custGeom>
              <a:avLst/>
              <a:gdLst/>
              <a:ahLst/>
              <a:cxnLst/>
              <a:rect r="r" b="b" t="t" l="l"/>
              <a:pathLst>
                <a:path h="2717729" w="12159488">
                  <a:moveTo>
                    <a:pt x="0" y="0"/>
                  </a:moveTo>
                  <a:lnTo>
                    <a:pt x="12159488" y="0"/>
                  </a:lnTo>
                  <a:lnTo>
                    <a:pt x="12159488" y="2717729"/>
                  </a:lnTo>
                  <a:lnTo>
                    <a:pt x="0" y="2717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59" r="6951" b="-265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2159488" cy="2689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9"/>
                </a:lnSpc>
              </a:pPr>
              <a:r>
                <a:rPr lang="en-US" sz="399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Iri</a:t>
              </a:r>
              <a:r>
                <a:rPr lang="en-US" sz="399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 ETF &amp; Crypto Portfolio</a:t>
              </a:r>
            </a:p>
            <a:p>
              <a:pPr algn="l">
                <a:lnSpc>
                  <a:spcPts val="4180"/>
                </a:lnSpc>
              </a:pPr>
              <a:r>
                <a:rPr lang="en-US" sz="3800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Google Sheet Live Tracker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5976" y="4271944"/>
            <a:ext cx="7412736" cy="975360"/>
            <a:chOff x="0" y="0"/>
            <a:chExt cx="9883648" cy="1300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83648" cy="1300480"/>
            </a:xfrm>
            <a:custGeom>
              <a:avLst/>
              <a:gdLst/>
              <a:ahLst/>
              <a:cxnLst/>
              <a:rect r="r" b="b" t="t" l="l"/>
              <a:pathLst>
                <a:path h="1300480" w="9883648">
                  <a:moveTo>
                    <a:pt x="0" y="0"/>
                  </a:moveTo>
                  <a:lnTo>
                    <a:pt x="9883648" y="0"/>
                  </a:lnTo>
                  <a:lnTo>
                    <a:pt x="9883648" y="1300480"/>
                  </a:lnTo>
                  <a:lnTo>
                    <a:pt x="0" y="130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883648" cy="1348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F4F9DF"/>
                  </a:solidFill>
                  <a:latin typeface="Arimo"/>
                  <a:ea typeface="Arimo"/>
                  <a:cs typeface="Arimo"/>
                  <a:sym typeface="Arimo"/>
                </a:rPr>
                <a:t>A live, formula-driven Google Sheet for pricing, allocation, and growth tracking across five Irish-domiciled UCITS ETFs and Bitcoin.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5520">
            <a:off x="675970" y="6383846"/>
            <a:ext cx="8401650" cy="0"/>
          </a:xfrm>
          <a:prstGeom prst="line">
            <a:avLst/>
          </a:prstGeom>
          <a:ln cap="rnd" w="9525">
            <a:solidFill>
              <a:srgbClr val="3E4A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82752" y="6515405"/>
            <a:ext cx="5852160" cy="390144"/>
            <a:chOff x="0" y="0"/>
            <a:chExt cx="7802880" cy="520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02880" cy="520192"/>
            </a:xfrm>
            <a:custGeom>
              <a:avLst/>
              <a:gdLst/>
              <a:ahLst/>
              <a:cxnLst/>
              <a:rect r="r" b="b" t="t" l="l"/>
              <a:pathLst>
                <a:path h="5201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802880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>
                  <a:solidFill>
                    <a:srgbClr val="7C9468"/>
                  </a:solidFill>
                  <a:latin typeface="Arimo"/>
                  <a:ea typeface="Arimo"/>
                  <a:cs typeface="Arimo"/>
                  <a:sym typeface="Arimo"/>
                </a:rPr>
                <a:t>Google Sheets  ·  IMPORTHTML  ·  GOOGLEFINANCE  ·  updates automatically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34912" y="6515405"/>
            <a:ext cx="2535936" cy="390144"/>
            <a:chOff x="0" y="0"/>
            <a:chExt cx="3381248" cy="5201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1248" cy="520192"/>
            </a:xfrm>
            <a:custGeom>
              <a:avLst/>
              <a:gdLst/>
              <a:ahLst/>
              <a:cxnLst/>
              <a:rect r="r" b="b" t="t" l="l"/>
              <a:pathLst>
                <a:path h="520192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381248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07"/>
                </a:lnSpc>
              </a:pPr>
              <a:r>
                <a:rPr lang="en-US" sz="1173">
                  <a:solidFill>
                    <a:srgbClr val="7C9468"/>
                  </a:solidFill>
                  <a:latin typeface="Arimo"/>
                  <a:ea typeface="Arimo"/>
                  <a:cs typeface="Arimo"/>
                  <a:sym typeface="Arimo"/>
                </a:rPr>
                <a:t>September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752" y="487680"/>
            <a:ext cx="8388096" cy="652264"/>
            <a:chOff x="0" y="0"/>
            <a:chExt cx="11184128" cy="869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84128" cy="869686"/>
            </a:xfrm>
            <a:custGeom>
              <a:avLst/>
              <a:gdLst/>
              <a:ahLst/>
              <a:cxnLst/>
              <a:rect r="r" b="b" t="t" l="l"/>
              <a:pathLst>
                <a:path h="869686" w="11184128">
                  <a:moveTo>
                    <a:pt x="0" y="0"/>
                  </a:moveTo>
                  <a:lnTo>
                    <a:pt x="11184128" y="0"/>
                  </a:lnTo>
                  <a:lnTo>
                    <a:pt x="11184128" y="869686"/>
                  </a:lnTo>
                  <a:lnTo>
                    <a:pt x="0" y="8696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978" r="0" b="-199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184128" cy="898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Two tabs, one live picture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2752" y="1092403"/>
            <a:ext cx="8388096" cy="390144"/>
            <a:chOff x="0" y="0"/>
            <a:chExt cx="11184128" cy="520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84128" cy="520192"/>
            </a:xfrm>
            <a:custGeom>
              <a:avLst/>
              <a:gdLst/>
              <a:ahLst/>
              <a:cxnLst/>
              <a:rect r="r" b="b" t="t" l="l"/>
              <a:pathLst>
                <a:path h="520192" w="11184128">
                  <a:moveTo>
                    <a:pt x="0" y="0"/>
                  </a:moveTo>
                  <a:lnTo>
                    <a:pt x="11184128" y="0"/>
                  </a:lnTo>
                  <a:lnTo>
                    <a:pt x="1118412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184128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64"/>
                </a:lnSpc>
              </a:pPr>
              <a:r>
                <a:rPr lang="en-US" sz="1386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Everything below lives inside a single Google Sheet — nothing is entered by hand.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5980" y="1748876"/>
            <a:ext cx="3963753" cy="3768681"/>
            <a:chOff x="0" y="0"/>
            <a:chExt cx="5285003" cy="50249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84978" cy="5024882"/>
            </a:xfrm>
            <a:custGeom>
              <a:avLst/>
              <a:gdLst/>
              <a:ahLst/>
              <a:cxnLst/>
              <a:rect r="r" b="b" t="t" l="l"/>
              <a:pathLst>
                <a:path h="5024882" w="5284978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5128387" y="0"/>
                  </a:lnTo>
                  <a:cubicBezTo>
                    <a:pt x="5214874" y="0"/>
                    <a:pt x="5284978" y="70104"/>
                    <a:pt x="5284978" y="156591"/>
                  </a:cubicBezTo>
                  <a:lnTo>
                    <a:pt x="5284978" y="4868291"/>
                  </a:lnTo>
                  <a:cubicBezTo>
                    <a:pt x="5284978" y="4954778"/>
                    <a:pt x="5214874" y="5024882"/>
                    <a:pt x="5128387" y="5024882"/>
                  </a:cubicBezTo>
                  <a:lnTo>
                    <a:pt x="156591" y="5024882"/>
                  </a:lnTo>
                  <a:cubicBezTo>
                    <a:pt x="70104" y="5024882"/>
                    <a:pt x="0" y="4954778"/>
                    <a:pt x="0" y="4868291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89581" y="2062477"/>
            <a:ext cx="946909" cy="946909"/>
            <a:chOff x="0" y="0"/>
            <a:chExt cx="1262545" cy="12625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2507" cy="1262507"/>
            </a:xfrm>
            <a:custGeom>
              <a:avLst/>
              <a:gdLst/>
              <a:ahLst/>
              <a:cxnLst/>
              <a:rect r="r" b="b" t="t" l="l"/>
              <a:pathLst>
                <a:path h="1262507" w="1262507">
                  <a:moveTo>
                    <a:pt x="0" y="631317"/>
                  </a:moveTo>
                  <a:cubicBezTo>
                    <a:pt x="0" y="282575"/>
                    <a:pt x="282575" y="0"/>
                    <a:pt x="631317" y="0"/>
                  </a:cubicBezTo>
                  <a:cubicBezTo>
                    <a:pt x="980059" y="0"/>
                    <a:pt x="1262507" y="282575"/>
                    <a:pt x="1262507" y="631317"/>
                  </a:cubicBezTo>
                  <a:cubicBezTo>
                    <a:pt x="1262507" y="980059"/>
                    <a:pt x="979932" y="1262507"/>
                    <a:pt x="631317" y="1262507"/>
                  </a:cubicBezTo>
                  <a:cubicBezTo>
                    <a:pt x="282702" y="1262507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9465" y="2202361"/>
            <a:ext cx="667150" cy="667150"/>
            <a:chOff x="0" y="0"/>
            <a:chExt cx="889533" cy="889533"/>
          </a:xfrm>
        </p:grpSpPr>
        <p:sp>
          <p:nvSpPr>
            <p:cNvPr name="Freeform 17" id="17" descr="/tmp/claude-0/-home-claude/17adb65a-2095-52b1-b277-2d40dd9b0baa/scratchpad/deck/assets/icon-grid-gold.png"/>
            <p:cNvSpPr/>
            <p:nvPr/>
          </p:nvSpPr>
          <p:spPr>
            <a:xfrm flipH="false" flipV="false" rot="0">
              <a:off x="0" y="0"/>
              <a:ext cx="889508" cy="889508"/>
            </a:xfrm>
            <a:custGeom>
              <a:avLst/>
              <a:gdLst/>
              <a:ahLst/>
              <a:cxnLst/>
              <a:rect r="r" b="b" t="t" l="l"/>
              <a:pathLst>
                <a:path h="889508" w="889508">
                  <a:moveTo>
                    <a:pt x="0" y="0"/>
                  </a:moveTo>
                  <a:lnTo>
                    <a:pt x="889508" y="0"/>
                  </a:lnTo>
                  <a:lnTo>
                    <a:pt x="889508" y="889508"/>
                  </a:lnTo>
                  <a:lnTo>
                    <a:pt x="0" y="88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097024" y="2175053"/>
            <a:ext cx="2340864" cy="292608"/>
            <a:chOff x="0" y="0"/>
            <a:chExt cx="3121152" cy="3901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21152" cy="390144"/>
            </a:xfrm>
            <a:custGeom>
              <a:avLst/>
              <a:gdLst/>
              <a:ahLst/>
              <a:cxnLst/>
              <a:rect r="r" b="b" t="t" l="l"/>
              <a:pathLst>
                <a:path h="39014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1211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b="true" sz="1119" spc="106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97024" y="2438400"/>
            <a:ext cx="2438400" cy="487680"/>
            <a:chOff x="0" y="0"/>
            <a:chExt cx="3251200" cy="65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51200" cy="650240"/>
            </a:xfrm>
            <a:custGeom>
              <a:avLst/>
              <a:gdLst/>
              <a:ahLst/>
              <a:cxnLst/>
              <a:rect r="r" b="b" t="t" l="l"/>
              <a:pathLst>
                <a:path h="65024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251200" cy="65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9"/>
                </a:lnSpc>
              </a:pPr>
              <a:r>
                <a:rPr lang="en-US" sz="2133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Portfolio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26592" y="3297174"/>
            <a:ext cx="34625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8454" indent="-89227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Live current price for each of the 6 holdings</a:t>
            </a:r>
          </a:p>
          <a:p>
            <a:pPr algn="l" marL="178454" indent="-89227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Units held and € value per holding</a:t>
            </a:r>
          </a:p>
          <a:p>
            <a:pPr algn="l" marL="178454" indent="-89227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Current allocation vs. the client's ideal allocation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661811" y="3393843"/>
            <a:ext cx="429968" cy="429968"/>
            <a:chOff x="0" y="0"/>
            <a:chExt cx="573291" cy="5732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3278" cy="573278"/>
            </a:xfrm>
            <a:custGeom>
              <a:avLst/>
              <a:gdLst/>
              <a:ahLst/>
              <a:cxnLst/>
              <a:rect r="r" b="b" t="t" l="l"/>
              <a:pathLst>
                <a:path h="573278" w="573278">
                  <a:moveTo>
                    <a:pt x="0" y="286639"/>
                  </a:moveTo>
                  <a:cubicBezTo>
                    <a:pt x="0" y="128397"/>
                    <a:pt x="128397" y="0"/>
                    <a:pt x="286639" y="0"/>
                  </a:cubicBezTo>
                  <a:cubicBezTo>
                    <a:pt x="444881" y="0"/>
                    <a:pt x="573278" y="128397"/>
                    <a:pt x="573278" y="286639"/>
                  </a:cubicBezTo>
                  <a:cubicBezTo>
                    <a:pt x="573278" y="444881"/>
                    <a:pt x="445008" y="573278"/>
                    <a:pt x="286639" y="573278"/>
                  </a:cubicBezTo>
                  <a:cubicBezTo>
                    <a:pt x="128270" y="573278"/>
                    <a:pt x="0" y="445008"/>
                    <a:pt x="0" y="286639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729324" y="3461356"/>
            <a:ext cx="294951" cy="294951"/>
            <a:chOff x="0" y="0"/>
            <a:chExt cx="393268" cy="393268"/>
          </a:xfrm>
        </p:grpSpPr>
        <p:sp>
          <p:nvSpPr>
            <p:cNvPr name="Freeform 28" id="28" descr="/tmp/claude-0/-home-claude/17adb65a-2095-52b1-b277-2d40dd9b0baa/scratchpad/deck/assets/icon-arrow-right-blue.png"/>
            <p:cNvSpPr/>
            <p:nvPr/>
          </p:nvSpPr>
          <p:spPr>
            <a:xfrm flipH="false" flipV="false" rot="0">
              <a:off x="0" y="0"/>
              <a:ext cx="393319" cy="393319"/>
            </a:xfrm>
            <a:custGeom>
              <a:avLst/>
              <a:gdLst/>
              <a:ahLst/>
              <a:cxnLst/>
              <a:rect r="r" b="b" t="t" l="l"/>
              <a:pathLst>
                <a:path h="393319" w="393319">
                  <a:moveTo>
                    <a:pt x="0" y="0"/>
                  </a:moveTo>
                  <a:lnTo>
                    <a:pt x="393319" y="0"/>
                  </a:lnTo>
                  <a:lnTo>
                    <a:pt x="393319" y="393319"/>
                  </a:lnTo>
                  <a:lnTo>
                    <a:pt x="0" y="39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2" b="1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113868" y="1748876"/>
            <a:ext cx="3963753" cy="3768681"/>
            <a:chOff x="0" y="0"/>
            <a:chExt cx="5285003" cy="50249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84978" cy="5024882"/>
            </a:xfrm>
            <a:custGeom>
              <a:avLst/>
              <a:gdLst/>
              <a:ahLst/>
              <a:cxnLst/>
              <a:rect r="r" b="b" t="t" l="l"/>
              <a:pathLst>
                <a:path h="5024882" w="5284978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5128387" y="0"/>
                  </a:lnTo>
                  <a:cubicBezTo>
                    <a:pt x="5214874" y="0"/>
                    <a:pt x="5284978" y="70104"/>
                    <a:pt x="5284978" y="156591"/>
                  </a:cubicBezTo>
                  <a:lnTo>
                    <a:pt x="5284978" y="4868291"/>
                  </a:lnTo>
                  <a:cubicBezTo>
                    <a:pt x="5284978" y="4954778"/>
                    <a:pt x="5214874" y="5024882"/>
                    <a:pt x="5128387" y="5024882"/>
                  </a:cubicBezTo>
                  <a:lnTo>
                    <a:pt x="156591" y="5024882"/>
                  </a:lnTo>
                  <a:cubicBezTo>
                    <a:pt x="70104" y="5024882"/>
                    <a:pt x="0" y="4954778"/>
                    <a:pt x="0" y="4868291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427469" y="2062477"/>
            <a:ext cx="946909" cy="946909"/>
            <a:chOff x="0" y="0"/>
            <a:chExt cx="1262545" cy="1262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2507" cy="1262507"/>
            </a:xfrm>
            <a:custGeom>
              <a:avLst/>
              <a:gdLst/>
              <a:ahLst/>
              <a:cxnLst/>
              <a:rect r="r" b="b" t="t" l="l"/>
              <a:pathLst>
                <a:path h="1262507" w="1262507">
                  <a:moveTo>
                    <a:pt x="0" y="631317"/>
                  </a:moveTo>
                  <a:cubicBezTo>
                    <a:pt x="0" y="282575"/>
                    <a:pt x="282575" y="0"/>
                    <a:pt x="631317" y="0"/>
                  </a:cubicBezTo>
                  <a:cubicBezTo>
                    <a:pt x="980059" y="0"/>
                    <a:pt x="1262507" y="282575"/>
                    <a:pt x="1262507" y="631317"/>
                  </a:cubicBezTo>
                  <a:cubicBezTo>
                    <a:pt x="1262507" y="980059"/>
                    <a:pt x="979932" y="1262507"/>
                    <a:pt x="631317" y="1262507"/>
                  </a:cubicBezTo>
                  <a:cubicBezTo>
                    <a:pt x="282702" y="1262507"/>
                    <a:pt x="0" y="979932"/>
                    <a:pt x="0" y="631317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567353" y="2202361"/>
            <a:ext cx="667150" cy="667150"/>
            <a:chOff x="0" y="0"/>
            <a:chExt cx="889533" cy="889533"/>
          </a:xfrm>
        </p:grpSpPr>
        <p:sp>
          <p:nvSpPr>
            <p:cNvPr name="Freeform 34" id="34" descr="/tmp/claude-0/-home-claude/17adb65a-2095-52b1-b277-2d40dd9b0baa/scratchpad/deck/assets/icon-clock-gold.png"/>
            <p:cNvSpPr/>
            <p:nvPr/>
          </p:nvSpPr>
          <p:spPr>
            <a:xfrm flipH="false" flipV="false" rot="0">
              <a:off x="0" y="0"/>
              <a:ext cx="889508" cy="889508"/>
            </a:xfrm>
            <a:custGeom>
              <a:avLst/>
              <a:gdLst/>
              <a:ahLst/>
              <a:cxnLst/>
              <a:rect r="r" b="b" t="t" l="l"/>
              <a:pathLst>
                <a:path h="889508" w="889508">
                  <a:moveTo>
                    <a:pt x="0" y="0"/>
                  </a:moveTo>
                  <a:lnTo>
                    <a:pt x="889508" y="0"/>
                  </a:lnTo>
                  <a:lnTo>
                    <a:pt x="889508" y="889508"/>
                  </a:lnTo>
                  <a:lnTo>
                    <a:pt x="0" y="88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34912" y="2175053"/>
            <a:ext cx="2340864" cy="292608"/>
            <a:chOff x="0" y="0"/>
            <a:chExt cx="3121152" cy="3901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21152" cy="390144"/>
            </a:xfrm>
            <a:custGeom>
              <a:avLst/>
              <a:gdLst/>
              <a:ahLst/>
              <a:cxnLst/>
              <a:rect r="r" b="b" t="t" l="l"/>
              <a:pathLst>
                <a:path h="39014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121152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b="true" sz="1119" spc="106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34912" y="2438400"/>
            <a:ext cx="2535936" cy="487680"/>
            <a:chOff x="0" y="0"/>
            <a:chExt cx="3381248" cy="65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81248" cy="650240"/>
            </a:xfrm>
            <a:custGeom>
              <a:avLst/>
              <a:gdLst/>
              <a:ahLst/>
              <a:cxnLst/>
              <a:rect r="r" b="b" t="t" l="l"/>
              <a:pathLst>
                <a:path h="650240" w="3381248">
                  <a:moveTo>
                    <a:pt x="0" y="0"/>
                  </a:moveTo>
                  <a:lnTo>
                    <a:pt x="3381248" y="0"/>
                  </a:lnTo>
                  <a:lnTo>
                    <a:pt x="3381248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381248" cy="65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9"/>
                </a:lnSpc>
              </a:pPr>
              <a:r>
                <a:rPr lang="en-US" sz="2133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Contributions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364480" y="3297174"/>
            <a:ext cx="346252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8454" indent="-89227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Every contribution logged by date, per holding</a:t>
            </a:r>
          </a:p>
          <a:p>
            <a:pPr algn="l" marL="178454" indent="-89227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Totals rolled up per holding and for the portfolio</a:t>
            </a:r>
          </a:p>
          <a:p>
            <a:pPr algn="l" marL="178454" indent="-89227" lvl="1">
              <a:lnSpc>
                <a:spcPts val="1664"/>
              </a:lnSpc>
              <a:buFont typeface="Arial"/>
              <a:buChar char="•"/>
            </a:pPr>
            <a:r>
              <a:rPr lang="en-US" sz="1386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Growth: current value vs. amount contributed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82752" y="5637581"/>
            <a:ext cx="8388096" cy="390144"/>
            <a:chOff x="0" y="0"/>
            <a:chExt cx="11184128" cy="520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84128" cy="520192"/>
            </a:xfrm>
            <a:custGeom>
              <a:avLst/>
              <a:gdLst/>
              <a:ahLst/>
              <a:cxnLst/>
              <a:rect r="r" b="b" t="t" l="l"/>
              <a:pathLst>
                <a:path h="520192" w="11184128">
                  <a:moveTo>
                    <a:pt x="0" y="0"/>
                  </a:moveTo>
                  <a:lnTo>
                    <a:pt x="11184128" y="0"/>
                  </a:lnTo>
                  <a:lnTo>
                    <a:pt x="11184128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1184128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7"/>
                </a:lnSpc>
              </a:pPr>
              <a:r>
                <a:rPr lang="en-US" sz="1173" i="true">
                  <a:solidFill>
                    <a:srgbClr val="7C9468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Tab 2's totals pull each holding's current value live from Tab 1 via cell references.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2752" y="6193536"/>
            <a:ext cx="2682240" cy="563391"/>
            <a:chOff x="0" y="0"/>
            <a:chExt cx="3576320" cy="75118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76320" cy="751187"/>
            </a:xfrm>
            <a:custGeom>
              <a:avLst/>
              <a:gdLst/>
              <a:ahLst/>
              <a:cxnLst/>
              <a:rect r="r" b="b" t="t" l="l"/>
              <a:pathLst>
                <a:path h="751187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751187"/>
                  </a:lnTo>
                  <a:lnTo>
                    <a:pt x="0" y="7511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16" r="0" b="-3431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576320" cy="770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8"/>
                </a:lnSpc>
              </a:pPr>
              <a:r>
                <a:rPr lang="en-US" sz="2773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82752" y="6661709"/>
            <a:ext cx="2682240" cy="341376"/>
            <a:chOff x="0" y="0"/>
            <a:chExt cx="3576320" cy="4551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76320" cy="455168"/>
            </a:xfrm>
            <a:custGeom>
              <a:avLst/>
              <a:gdLst/>
              <a:ahLst/>
              <a:cxnLst/>
              <a:rect r="r" b="b" t="t" l="l"/>
              <a:pathLst>
                <a:path h="455168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576320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>
                  <a:solidFill>
                    <a:srgbClr val="7C9468"/>
                  </a:solidFill>
                  <a:latin typeface="Arimo"/>
                  <a:ea typeface="Arimo"/>
                  <a:cs typeface="Arimo"/>
                  <a:sym typeface="Arimo"/>
                </a:rPr>
                <a:t>tracked holdings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511296" y="6193536"/>
            <a:ext cx="2682240" cy="563391"/>
            <a:chOff x="0" y="0"/>
            <a:chExt cx="3576320" cy="75118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76320" cy="751187"/>
            </a:xfrm>
            <a:custGeom>
              <a:avLst/>
              <a:gdLst/>
              <a:ahLst/>
              <a:cxnLst/>
              <a:rect r="r" b="b" t="t" l="l"/>
              <a:pathLst>
                <a:path h="751187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751187"/>
                  </a:lnTo>
                  <a:lnTo>
                    <a:pt x="0" y="7511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16" r="0" b="-343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576320" cy="770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8"/>
                </a:lnSpc>
              </a:pPr>
              <a:r>
                <a:rPr lang="en-US" sz="2773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511296" y="6661709"/>
            <a:ext cx="2682240" cy="341376"/>
            <a:chOff x="0" y="0"/>
            <a:chExt cx="3576320" cy="4551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76320" cy="455168"/>
            </a:xfrm>
            <a:custGeom>
              <a:avLst/>
              <a:gdLst/>
              <a:ahLst/>
              <a:cxnLst/>
              <a:rect r="r" b="b" t="t" l="l"/>
              <a:pathLst>
                <a:path h="455168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576320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>
                  <a:solidFill>
                    <a:srgbClr val="7C9468"/>
                  </a:solidFill>
                  <a:latin typeface="Arimo"/>
                  <a:ea typeface="Arimo"/>
                  <a:cs typeface="Arimo"/>
                  <a:sym typeface="Arimo"/>
                </a:rPr>
                <a:t>connected tabs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339840" y="6193536"/>
            <a:ext cx="2682240" cy="563391"/>
            <a:chOff x="0" y="0"/>
            <a:chExt cx="3576320" cy="75118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76320" cy="751187"/>
            </a:xfrm>
            <a:custGeom>
              <a:avLst/>
              <a:gdLst/>
              <a:ahLst/>
              <a:cxnLst/>
              <a:rect r="r" b="b" t="t" l="l"/>
              <a:pathLst>
                <a:path h="751187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751187"/>
                  </a:lnTo>
                  <a:lnTo>
                    <a:pt x="0" y="7511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16" r="0" b="-3431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576320" cy="770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8"/>
                </a:lnSpc>
              </a:pPr>
              <a:r>
                <a:rPr lang="en-US" sz="2773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339840" y="6661709"/>
            <a:ext cx="2682240" cy="341376"/>
            <a:chOff x="0" y="0"/>
            <a:chExt cx="3576320" cy="4551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76320" cy="455168"/>
            </a:xfrm>
            <a:custGeom>
              <a:avLst/>
              <a:gdLst/>
              <a:ahLst/>
              <a:cxnLst/>
              <a:rect r="r" b="b" t="t" l="l"/>
              <a:pathLst>
                <a:path h="455168" w="3576320">
                  <a:moveTo>
                    <a:pt x="0" y="0"/>
                  </a:moveTo>
                  <a:lnTo>
                    <a:pt x="3576320" y="0"/>
                  </a:lnTo>
                  <a:lnTo>
                    <a:pt x="3576320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576320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>
                  <a:solidFill>
                    <a:srgbClr val="7C9468"/>
                  </a:solidFill>
                  <a:latin typeface="Arimo"/>
                  <a:ea typeface="Arimo"/>
                  <a:cs typeface="Arimo"/>
                  <a:sym typeface="Arimo"/>
                </a:rPr>
                <a:t>manual price updates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5216" y="438912"/>
            <a:ext cx="5852160" cy="587990"/>
            <a:chOff x="0" y="0"/>
            <a:chExt cx="7802880" cy="783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02880" cy="783987"/>
            </a:xfrm>
            <a:custGeom>
              <a:avLst/>
              <a:gdLst/>
              <a:ahLst/>
              <a:cxnLst/>
              <a:rect r="r" b="b" t="t" l="l"/>
              <a:pathLst>
                <a:path h="783987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83987"/>
                  </a:lnTo>
                  <a:lnTo>
                    <a:pt x="0" y="783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66" r="0" b="-1436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7802880" cy="793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 1 — Live portfolio snapshot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74444" y="383372"/>
            <a:ext cx="2305641" cy="988905"/>
            <a:chOff x="0" y="0"/>
            <a:chExt cx="3074187" cy="13185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74162" cy="1318514"/>
            </a:xfrm>
            <a:custGeom>
              <a:avLst/>
              <a:gdLst/>
              <a:ahLst/>
              <a:cxnLst/>
              <a:rect r="r" b="b" t="t" l="l"/>
              <a:pathLst>
                <a:path h="1318514" w="3074162">
                  <a:moveTo>
                    <a:pt x="0" y="158242"/>
                  </a:moveTo>
                  <a:cubicBezTo>
                    <a:pt x="0" y="70866"/>
                    <a:pt x="70866" y="0"/>
                    <a:pt x="158242" y="0"/>
                  </a:cubicBezTo>
                  <a:lnTo>
                    <a:pt x="2915920" y="0"/>
                  </a:lnTo>
                  <a:cubicBezTo>
                    <a:pt x="3003296" y="0"/>
                    <a:pt x="3074162" y="70866"/>
                    <a:pt x="3074162" y="158242"/>
                  </a:cubicBezTo>
                  <a:lnTo>
                    <a:pt x="3074162" y="1160272"/>
                  </a:lnTo>
                  <a:cubicBezTo>
                    <a:pt x="3074162" y="1247648"/>
                    <a:pt x="3003296" y="1318514"/>
                    <a:pt x="2915920" y="1318514"/>
                  </a:cubicBezTo>
                  <a:lnTo>
                    <a:pt x="158242" y="1318514"/>
                  </a:lnTo>
                  <a:cubicBezTo>
                    <a:pt x="70866" y="1318514"/>
                    <a:pt x="0" y="1247648"/>
                    <a:pt x="0" y="1160272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827520" y="507187"/>
            <a:ext cx="1999488" cy="565709"/>
            <a:chOff x="0" y="0"/>
            <a:chExt cx="2665984" cy="7542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5984" cy="754278"/>
            </a:xfrm>
            <a:custGeom>
              <a:avLst/>
              <a:gdLst/>
              <a:ahLst/>
              <a:cxnLst/>
              <a:rect r="r" b="b" t="t" l="l"/>
              <a:pathLst>
                <a:path h="754278" w="2665984">
                  <a:moveTo>
                    <a:pt x="0" y="0"/>
                  </a:moveTo>
                  <a:lnTo>
                    <a:pt x="2665984" y="0"/>
                  </a:lnTo>
                  <a:lnTo>
                    <a:pt x="2665984" y="754278"/>
                  </a:lnTo>
                  <a:lnTo>
                    <a:pt x="0" y="754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69" r="0" b="-1886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665984" cy="7733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16"/>
                </a:lnSpc>
              </a:pPr>
              <a:r>
                <a:rPr lang="en-US" sz="2346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€344.35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827520" y="975817"/>
            <a:ext cx="199948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total portfolio value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585216" y="1511808"/>
          <a:ext cx="4416213" cy="4226560"/>
        </p:xfrm>
        <a:graphic>
          <a:graphicData uri="http://schemas.openxmlformats.org/drawingml/2006/table">
            <a:tbl>
              <a:tblPr/>
              <a:tblGrid>
                <a:gridCol w="1354252"/>
                <a:gridCol w="1211282"/>
                <a:gridCol w="972997"/>
                <a:gridCol w="877683"/>
              </a:tblGrid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A3B0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Holding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A3B0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A3B0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Current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A3B0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Ideal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SPPW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€46.24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IQQ0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€66.80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IWQU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€76.67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IS3S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€71.62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ZPRV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€80.35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BTC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€66,478.97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CBAA5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2"/>
                    </a:solidFill>
                  </a:tcPr>
                </a:tc>
              </a:tr>
              <a:tr h="5283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F4F9D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Total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>
                          <a:solidFill>
                            <a:srgbClr val="F4F9D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F4F9D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407"/>
                        </a:lnSpc>
                        <a:defRPr/>
                      </a:pPr>
                      <a:r>
                        <a:rPr lang="en-US" sz="1173" b="true">
                          <a:solidFill>
                            <a:srgbClr val="F4F9D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3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5211404" y="1505036"/>
            <a:ext cx="3963753" cy="4256361"/>
            <a:chOff x="0" y="0"/>
            <a:chExt cx="5285003" cy="56751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84978" cy="5675122"/>
            </a:xfrm>
            <a:custGeom>
              <a:avLst/>
              <a:gdLst/>
              <a:ahLst/>
              <a:cxnLst/>
              <a:rect r="r" b="b" t="t" l="l"/>
              <a:pathLst>
                <a:path h="5675122" w="5284978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5128387" y="0"/>
                  </a:lnTo>
                  <a:cubicBezTo>
                    <a:pt x="5214874" y="0"/>
                    <a:pt x="5284978" y="70104"/>
                    <a:pt x="5284978" y="156591"/>
                  </a:cubicBezTo>
                  <a:lnTo>
                    <a:pt x="5284978" y="5518531"/>
                  </a:lnTo>
                  <a:cubicBezTo>
                    <a:pt x="5284978" y="5605018"/>
                    <a:pt x="5214874" y="5675122"/>
                    <a:pt x="5128387" y="5675122"/>
                  </a:cubicBezTo>
                  <a:lnTo>
                    <a:pt x="156591" y="5675122"/>
                  </a:lnTo>
                  <a:cubicBezTo>
                    <a:pt x="70104" y="5675122"/>
                    <a:pt x="0" y="5605018"/>
                    <a:pt x="0" y="5518531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413248" y="1658112"/>
            <a:ext cx="3608832" cy="341376"/>
            <a:chOff x="0" y="0"/>
            <a:chExt cx="4811776" cy="4551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1776" cy="455168"/>
            </a:xfrm>
            <a:custGeom>
              <a:avLst/>
              <a:gdLst/>
              <a:ahLst/>
              <a:cxnLst/>
              <a:rect r="r" b="b" t="t" l="l"/>
              <a:pathLst>
                <a:path h="455168" w="4811776">
                  <a:moveTo>
                    <a:pt x="0" y="0"/>
                  </a:moveTo>
                  <a:lnTo>
                    <a:pt x="4811776" y="0"/>
                  </a:lnTo>
                  <a:lnTo>
                    <a:pt x="4811776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984" r="0" b="-155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811776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A3B0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Current vs. ideal allocation</a:t>
              </a:r>
            </a:p>
          </p:txBody>
        </p:sp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40198" y="1623974"/>
            <a:ext cx="4506163" cy="4359859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 rot="0">
            <a:off x="585216" y="5998464"/>
            <a:ext cx="8583168" cy="390144"/>
            <a:chOff x="0" y="0"/>
            <a:chExt cx="11444224" cy="520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44224" cy="520192"/>
            </a:xfrm>
            <a:custGeom>
              <a:avLst/>
              <a:gdLst/>
              <a:ahLst/>
              <a:cxnLst/>
              <a:rect r="r" b="b" t="t" l="l"/>
              <a:pathLst>
                <a:path h="520192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444224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7"/>
                </a:lnSpc>
              </a:pPr>
              <a:r>
                <a:rPr lang="en-US" sz="1173" i="true">
                  <a:solidFill>
                    <a:srgbClr val="7C9468"/>
                  </a:solidFill>
                  <a:latin typeface="Arimo Italics"/>
                  <a:ea typeface="Arimo Italics"/>
                  <a:cs typeface="Arimo Italics"/>
                  <a:sym typeface="Arimo Italics"/>
                </a:rPr>
                <a:t>The five ETFs price live from Tradegate.de by ISIN; Bitcoin uses GOOGLEFINANCE. See the next slide for how.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5216" y="487680"/>
            <a:ext cx="8583168" cy="587990"/>
            <a:chOff x="0" y="0"/>
            <a:chExt cx="11444224" cy="783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4224" cy="783987"/>
            </a:xfrm>
            <a:custGeom>
              <a:avLst/>
              <a:gdLst/>
              <a:ahLst/>
              <a:cxnLst/>
              <a:rect r="r" b="b" t="t" l="l"/>
              <a:pathLst>
                <a:path h="783987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83987"/>
                  </a:lnTo>
                  <a:lnTo>
                    <a:pt x="0" y="783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668" r="0" b="-23419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444224" cy="793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Portfolio tab — as it looks live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5216" y="1092403"/>
            <a:ext cx="8583168" cy="341376"/>
            <a:chOff x="0" y="0"/>
            <a:chExt cx="11444224" cy="455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44224" cy="455168"/>
            </a:xfrm>
            <a:custGeom>
              <a:avLst/>
              <a:gdLst/>
              <a:ahLst/>
              <a:cxnLst/>
              <a:rect r="r" b="b" t="t" l="l"/>
              <a:pathLst>
                <a:path h="455168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444224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0"/>
                </a:lnSpc>
              </a:pPr>
              <a:r>
                <a:rPr lang="en-US" sz="1333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Straight from the live Google Sheet — no mockups.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8444" y="1602572"/>
            <a:ext cx="8596713" cy="3027093"/>
            <a:chOff x="0" y="0"/>
            <a:chExt cx="11462283" cy="40361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62258" cy="4036187"/>
            </a:xfrm>
            <a:custGeom>
              <a:avLst/>
              <a:gdLst/>
              <a:ahLst/>
              <a:cxnLst/>
              <a:rect r="r" b="b" t="t" l="l"/>
              <a:pathLst>
                <a:path h="4036187" w="11462258">
                  <a:moveTo>
                    <a:pt x="0" y="130683"/>
                  </a:moveTo>
                  <a:cubicBezTo>
                    <a:pt x="0" y="58547"/>
                    <a:pt x="58547" y="0"/>
                    <a:pt x="130683" y="0"/>
                  </a:cubicBezTo>
                  <a:lnTo>
                    <a:pt x="11331575" y="0"/>
                  </a:lnTo>
                  <a:cubicBezTo>
                    <a:pt x="11403711" y="0"/>
                    <a:pt x="11462258" y="58547"/>
                    <a:pt x="11462258" y="130683"/>
                  </a:cubicBezTo>
                  <a:lnTo>
                    <a:pt x="11462258" y="3905504"/>
                  </a:lnTo>
                  <a:cubicBezTo>
                    <a:pt x="11462258" y="3977640"/>
                    <a:pt x="11403711" y="4036187"/>
                    <a:pt x="11331575" y="4036187"/>
                  </a:cubicBezTo>
                  <a:lnTo>
                    <a:pt x="130683" y="4036187"/>
                  </a:lnTo>
                  <a:cubicBezTo>
                    <a:pt x="58547" y="4036060"/>
                    <a:pt x="0" y="3977640"/>
                    <a:pt x="0" y="3905504"/>
                  </a:cubicBezTo>
                  <a:close/>
                </a:path>
              </a:pathLst>
            </a:custGeom>
            <a:solidFill>
              <a:srgbClr val="F7F8FC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4080">
            <a:off x="580130" y="1936204"/>
            <a:ext cx="8593331" cy="0"/>
          </a:xfrm>
          <a:prstGeom prst="line">
            <a:avLst/>
          </a:prstGeom>
          <a:ln cap="rnd" w="9525">
            <a:solidFill>
              <a:srgbClr val="E1E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31520" y="1726387"/>
            <a:ext cx="97536" cy="97536"/>
            <a:chOff x="0" y="0"/>
            <a:chExt cx="130048" cy="1300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C7D3E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6099" y="1726387"/>
            <a:ext cx="97536" cy="97536"/>
            <a:chOff x="0" y="0"/>
            <a:chExt cx="130048" cy="1300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8FB7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0678" y="1726387"/>
            <a:ext cx="97536" cy="97536"/>
            <a:chOff x="0" y="0"/>
            <a:chExt cx="130048" cy="1300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D9A94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11808" y="1609344"/>
            <a:ext cx="7510272" cy="331622"/>
            <a:chOff x="0" y="0"/>
            <a:chExt cx="10013696" cy="4421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13696" cy="442163"/>
            </a:xfrm>
            <a:custGeom>
              <a:avLst/>
              <a:gdLst/>
              <a:ahLst/>
              <a:cxnLst/>
              <a:rect r="r" b="b" t="t" l="l"/>
              <a:pathLst>
                <a:path h="442163" w="10013696">
                  <a:moveTo>
                    <a:pt x="0" y="0"/>
                  </a:moveTo>
                  <a:lnTo>
                    <a:pt x="10013696" y="0"/>
                  </a:lnTo>
                  <a:lnTo>
                    <a:pt x="10013696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278" r="0" b="-391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013696" cy="451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79"/>
                </a:lnSpc>
              </a:pPr>
              <a:r>
                <a:rPr lang="en-US" sz="1066">
                  <a:solidFill>
                    <a:srgbClr val="6B7690"/>
                  </a:solidFill>
                  <a:latin typeface="Arimo"/>
                  <a:ea typeface="Arimo"/>
                  <a:cs typeface="Arimo"/>
                  <a:sym typeface="Arimo"/>
                </a:rPr>
                <a:t>Google Sheets · Portfolio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02259" y="2058010"/>
            <a:ext cx="8349082" cy="2447839"/>
            <a:chOff x="0" y="0"/>
            <a:chExt cx="11132109" cy="3263786"/>
          </a:xfrm>
        </p:grpSpPr>
        <p:sp>
          <p:nvSpPr>
            <p:cNvPr name="Freeform 25" id="25" descr="/tmp/claude-0/-home-claude/17adb65a-2095-52b1-b277-2d40dd9b0baa/scratchpad/deck/assets/shot_portfolio_table.png"/>
            <p:cNvSpPr/>
            <p:nvPr/>
          </p:nvSpPr>
          <p:spPr>
            <a:xfrm flipH="false" flipV="false" rot="0">
              <a:off x="0" y="0"/>
              <a:ext cx="11132058" cy="3263773"/>
            </a:xfrm>
            <a:custGeom>
              <a:avLst/>
              <a:gdLst/>
              <a:ahLst/>
              <a:cxnLst/>
              <a:rect r="r" b="b" t="t" l="l"/>
              <a:pathLst>
                <a:path h="3263773" w="11132058">
                  <a:moveTo>
                    <a:pt x="0" y="0"/>
                  </a:moveTo>
                  <a:lnTo>
                    <a:pt x="11132058" y="0"/>
                  </a:lnTo>
                  <a:lnTo>
                    <a:pt x="11132058" y="3263773"/>
                  </a:lnTo>
                  <a:lnTo>
                    <a:pt x="0" y="3263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8444" y="4772492"/>
            <a:ext cx="2500713" cy="2277647"/>
            <a:chOff x="0" y="0"/>
            <a:chExt cx="3334283" cy="30368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34258" cy="3036824"/>
            </a:xfrm>
            <a:custGeom>
              <a:avLst/>
              <a:gdLst/>
              <a:ahLst/>
              <a:cxnLst/>
              <a:rect r="r" b="b" t="t" l="l"/>
              <a:pathLst>
                <a:path h="3036824" w="3334258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3203448" y="0"/>
                  </a:lnTo>
                  <a:cubicBezTo>
                    <a:pt x="3275711" y="0"/>
                    <a:pt x="3334258" y="58547"/>
                    <a:pt x="3334258" y="130810"/>
                  </a:cubicBezTo>
                  <a:lnTo>
                    <a:pt x="3334258" y="2906014"/>
                  </a:lnTo>
                  <a:cubicBezTo>
                    <a:pt x="3334258" y="2978277"/>
                    <a:pt x="3275711" y="3036824"/>
                    <a:pt x="3203448" y="3036824"/>
                  </a:cubicBezTo>
                  <a:lnTo>
                    <a:pt x="130810" y="3036824"/>
                  </a:lnTo>
                  <a:cubicBezTo>
                    <a:pt x="58547" y="3036824"/>
                    <a:pt x="0" y="2978277"/>
                    <a:pt x="0" y="2906014"/>
                  </a:cubicBezTo>
                  <a:close/>
                </a:path>
              </a:pathLst>
            </a:custGeom>
            <a:solidFill>
              <a:srgbClr val="F7F8FC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sp>
        <p:nvSpPr>
          <p:cNvPr name="AutoShape 28" id="28"/>
          <p:cNvSpPr/>
          <p:nvPr/>
        </p:nvSpPr>
        <p:spPr>
          <a:xfrm rot="13980">
            <a:off x="580130" y="5106124"/>
            <a:ext cx="2497350" cy="0"/>
          </a:xfrm>
          <a:prstGeom prst="line">
            <a:avLst/>
          </a:prstGeom>
          <a:ln cap="rnd" w="9525">
            <a:solidFill>
              <a:srgbClr val="E1E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731520" y="4896307"/>
            <a:ext cx="97536" cy="97536"/>
            <a:chOff x="0" y="0"/>
            <a:chExt cx="130048" cy="1300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C7D3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6099" y="4896307"/>
            <a:ext cx="97536" cy="97536"/>
            <a:chOff x="0" y="0"/>
            <a:chExt cx="130048" cy="1300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8FB7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0678" y="4896307"/>
            <a:ext cx="97536" cy="97536"/>
            <a:chOff x="0" y="0"/>
            <a:chExt cx="130048" cy="1300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D9A94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11808" y="4779264"/>
            <a:ext cx="1414272" cy="331622"/>
            <a:chOff x="0" y="0"/>
            <a:chExt cx="1885696" cy="4421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85696" cy="442163"/>
            </a:xfrm>
            <a:custGeom>
              <a:avLst/>
              <a:gdLst/>
              <a:ahLst/>
              <a:cxnLst/>
              <a:rect r="r" b="b" t="t" l="l"/>
              <a:pathLst>
                <a:path h="442163" w="1885696">
                  <a:moveTo>
                    <a:pt x="0" y="0"/>
                  </a:moveTo>
                  <a:lnTo>
                    <a:pt x="1885696" y="0"/>
                  </a:lnTo>
                  <a:lnTo>
                    <a:pt x="1885696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7" r="0" b="-330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885696" cy="451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79"/>
                </a:lnSpc>
              </a:pPr>
              <a:r>
                <a:rPr lang="en-US" sz="1066">
                  <a:solidFill>
                    <a:srgbClr val="6B7690"/>
                  </a:solidFill>
                  <a:latin typeface="Arimo"/>
                  <a:ea typeface="Arimo"/>
                  <a:cs typeface="Arimo"/>
                  <a:sym typeface="Arimo"/>
                </a:rPr>
                <a:t>Chart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02259" y="5227930"/>
            <a:ext cx="2253082" cy="1698384"/>
            <a:chOff x="0" y="0"/>
            <a:chExt cx="3004109" cy="2264512"/>
          </a:xfrm>
        </p:grpSpPr>
        <p:sp>
          <p:nvSpPr>
            <p:cNvPr name="Freeform 39" id="39" descr="/tmp/claude-0/-home-claude/17adb65a-2095-52b1-b277-2d40dd9b0baa/scratchpad/deck/assets/shot_portfolio_donut.png"/>
            <p:cNvSpPr/>
            <p:nvPr/>
          </p:nvSpPr>
          <p:spPr>
            <a:xfrm flipH="false" flipV="false" rot="0">
              <a:off x="0" y="0"/>
              <a:ext cx="3004058" cy="2264537"/>
            </a:xfrm>
            <a:custGeom>
              <a:avLst/>
              <a:gdLst/>
              <a:ahLst/>
              <a:cxnLst/>
              <a:rect r="r" b="b" t="t" l="l"/>
              <a:pathLst>
                <a:path h="2264537" w="3004058">
                  <a:moveTo>
                    <a:pt x="0" y="0"/>
                  </a:moveTo>
                  <a:lnTo>
                    <a:pt x="3004058" y="0"/>
                  </a:lnTo>
                  <a:lnTo>
                    <a:pt x="3004058" y="2264537"/>
                  </a:lnTo>
                  <a:lnTo>
                    <a:pt x="0" y="2264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-1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553292" y="4772492"/>
            <a:ext cx="5621865" cy="2276380"/>
            <a:chOff x="0" y="0"/>
            <a:chExt cx="7495819" cy="30351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5794" cy="3035173"/>
            </a:xfrm>
            <a:custGeom>
              <a:avLst/>
              <a:gdLst/>
              <a:ahLst/>
              <a:cxnLst/>
              <a:rect r="r" b="b" t="t" l="l"/>
              <a:pathLst>
                <a:path h="3035173" w="7495794">
                  <a:moveTo>
                    <a:pt x="0" y="156972"/>
                  </a:moveTo>
                  <a:cubicBezTo>
                    <a:pt x="0" y="70231"/>
                    <a:pt x="70231" y="0"/>
                    <a:pt x="156972" y="0"/>
                  </a:cubicBezTo>
                  <a:lnTo>
                    <a:pt x="7338822" y="0"/>
                  </a:lnTo>
                  <a:cubicBezTo>
                    <a:pt x="7425563" y="0"/>
                    <a:pt x="7495794" y="70231"/>
                    <a:pt x="7495794" y="156972"/>
                  </a:cubicBezTo>
                  <a:lnTo>
                    <a:pt x="7495794" y="2878201"/>
                  </a:lnTo>
                  <a:cubicBezTo>
                    <a:pt x="7495794" y="2964942"/>
                    <a:pt x="7425563" y="3035173"/>
                    <a:pt x="7338822" y="3035173"/>
                  </a:cubicBezTo>
                  <a:lnTo>
                    <a:pt x="156972" y="3035173"/>
                  </a:lnTo>
                  <a:cubicBezTo>
                    <a:pt x="70231" y="3035173"/>
                    <a:pt x="0" y="2964942"/>
                    <a:pt x="0" y="2878201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803904" y="4954829"/>
            <a:ext cx="5120640" cy="390144"/>
            <a:chOff x="0" y="0"/>
            <a:chExt cx="6827520" cy="5201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0" cy="520192"/>
            </a:xfrm>
            <a:custGeom>
              <a:avLst/>
              <a:gdLst/>
              <a:ahLst/>
              <a:cxnLst/>
              <a:rect r="r" b="b" t="t" l="l"/>
              <a:pathLst>
                <a:path h="5201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827520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Same numbers, one glance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803904" y="5413248"/>
            <a:ext cx="5120640" cy="1463040"/>
            <a:chOff x="0" y="0"/>
            <a:chExt cx="6827520" cy="1950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275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82752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3"/>
                </a:lnSpc>
              </a:pPr>
              <a:r>
                <a:rPr lang="en-US" sz="1280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The donut is a native Sheets chart built straight off the allocation column — no extra data prep. It makes the tilt obvious at a glance: SPPW and Bitcoin alone are 72% of the live portfolio (55% + 17%), against a combined 66% ideal.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5216" y="438912"/>
            <a:ext cx="8583168" cy="587990"/>
            <a:chOff x="0" y="0"/>
            <a:chExt cx="11444224" cy="783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4224" cy="783987"/>
            </a:xfrm>
            <a:custGeom>
              <a:avLst/>
              <a:gdLst/>
              <a:ahLst/>
              <a:cxnLst/>
              <a:rect r="r" b="b" t="t" l="l"/>
              <a:pathLst>
                <a:path h="783987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83987"/>
                  </a:lnTo>
                  <a:lnTo>
                    <a:pt x="0" y="783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668" r="0" b="-23419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444224" cy="793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keeps the prices live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8444" y="1212428"/>
            <a:ext cx="4207593" cy="2695785"/>
            <a:chOff x="0" y="0"/>
            <a:chExt cx="5610123" cy="3594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0098" cy="3594354"/>
            </a:xfrm>
            <a:custGeom>
              <a:avLst/>
              <a:gdLst/>
              <a:ahLst/>
              <a:cxnLst/>
              <a:rect r="r" b="b" t="t" l="l"/>
              <a:pathLst>
                <a:path h="3594354" w="5610098">
                  <a:moveTo>
                    <a:pt x="0" y="156845"/>
                  </a:moveTo>
                  <a:cubicBezTo>
                    <a:pt x="0" y="70231"/>
                    <a:pt x="70231" y="0"/>
                    <a:pt x="156845" y="0"/>
                  </a:cubicBezTo>
                  <a:lnTo>
                    <a:pt x="5453253" y="0"/>
                  </a:lnTo>
                  <a:cubicBezTo>
                    <a:pt x="5539867" y="0"/>
                    <a:pt x="5610098" y="70231"/>
                    <a:pt x="5610098" y="156845"/>
                  </a:cubicBezTo>
                  <a:lnTo>
                    <a:pt x="5610098" y="3437509"/>
                  </a:lnTo>
                  <a:cubicBezTo>
                    <a:pt x="5610098" y="3524123"/>
                    <a:pt x="5539867" y="3594354"/>
                    <a:pt x="5453253" y="3594354"/>
                  </a:cubicBezTo>
                  <a:lnTo>
                    <a:pt x="156845" y="3594354"/>
                  </a:lnTo>
                  <a:cubicBezTo>
                    <a:pt x="70231" y="3594354"/>
                    <a:pt x="0" y="3524123"/>
                    <a:pt x="0" y="3437509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43277" y="1428493"/>
            <a:ext cx="751837" cy="751837"/>
            <a:chOff x="0" y="0"/>
            <a:chExt cx="1002449" cy="10024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2411" cy="1002411"/>
            </a:xfrm>
            <a:custGeom>
              <a:avLst/>
              <a:gdLst/>
              <a:ahLst/>
              <a:cxnLst/>
              <a:rect r="r" b="b" t="t" l="l"/>
              <a:pathLst>
                <a:path h="1002411" w="1002411">
                  <a:moveTo>
                    <a:pt x="0" y="501269"/>
                  </a:moveTo>
                  <a:cubicBezTo>
                    <a:pt x="0" y="224409"/>
                    <a:pt x="224409" y="0"/>
                    <a:pt x="501269" y="0"/>
                  </a:cubicBezTo>
                  <a:cubicBezTo>
                    <a:pt x="778129" y="0"/>
                    <a:pt x="1002411" y="224409"/>
                    <a:pt x="1002411" y="501269"/>
                  </a:cubicBezTo>
                  <a:cubicBezTo>
                    <a:pt x="1002411" y="778129"/>
                    <a:pt x="778002" y="1002411"/>
                    <a:pt x="501269" y="1002411"/>
                  </a:cubicBezTo>
                  <a:cubicBezTo>
                    <a:pt x="224536" y="1002411"/>
                    <a:pt x="0" y="778002"/>
                    <a:pt x="0" y="501269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5853" y="1541069"/>
            <a:ext cx="526694" cy="526694"/>
            <a:chOff x="0" y="0"/>
            <a:chExt cx="702259" cy="702259"/>
          </a:xfrm>
        </p:grpSpPr>
        <p:sp>
          <p:nvSpPr>
            <p:cNvPr name="Freeform 14" id="14" descr="/tmp/claude-0/-home-claude/17adb65a-2095-52b1-b277-2d40dd9b0baa/scratchpad/deck/assets/icon-globe-blue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7" b="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06880" y="1511808"/>
            <a:ext cx="2926080" cy="487680"/>
            <a:chOff x="0" y="0"/>
            <a:chExt cx="3901440" cy="65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01440" cy="650240"/>
            </a:xfrm>
            <a:custGeom>
              <a:avLst/>
              <a:gdLst/>
              <a:ahLst/>
              <a:cxnLst/>
              <a:rect r="r" b="b" t="t" l="l"/>
              <a:pathLst>
                <a:path h="650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901440" cy="66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 ETFs — IMPORTHTML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9056" y="2243328"/>
            <a:ext cx="3755136" cy="1121664"/>
            <a:chOff x="0" y="0"/>
            <a:chExt cx="5006848" cy="14955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06848" cy="1495552"/>
            </a:xfrm>
            <a:custGeom>
              <a:avLst/>
              <a:gdLst/>
              <a:ahLst/>
              <a:cxnLst/>
              <a:rect r="r" b="b" t="t" l="l"/>
              <a:pathLst>
                <a:path h="1495552" w="5006848">
                  <a:moveTo>
                    <a:pt x="0" y="0"/>
                  </a:moveTo>
                  <a:lnTo>
                    <a:pt x="5006848" y="0"/>
                  </a:lnTo>
                  <a:lnTo>
                    <a:pt x="5006848" y="1495552"/>
                  </a:lnTo>
                  <a:lnTo>
                    <a:pt x="0" y="1495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2" r="0" b="-1523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06848" cy="1533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26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IMPORTHTML pulls the live order-book table straight from Tradegate.de for each ISIN. REGEXEXTRACT, SUBSTITUTE and VALUE parse the traded price out of the page into a usable number.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9056" y="3413760"/>
            <a:ext cx="3755136" cy="409651"/>
            <a:chOff x="0" y="0"/>
            <a:chExt cx="5006848" cy="5462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06848" cy="546100"/>
            </a:xfrm>
            <a:custGeom>
              <a:avLst/>
              <a:gdLst/>
              <a:ahLst/>
              <a:cxnLst/>
              <a:rect r="r" b="b" t="t" l="l"/>
              <a:pathLst>
                <a:path h="546100" w="5006848">
                  <a:moveTo>
                    <a:pt x="0" y="77978"/>
                  </a:moveTo>
                  <a:cubicBezTo>
                    <a:pt x="0" y="34925"/>
                    <a:pt x="34925" y="0"/>
                    <a:pt x="77978" y="0"/>
                  </a:cubicBezTo>
                  <a:lnTo>
                    <a:pt x="4928870" y="0"/>
                  </a:lnTo>
                  <a:cubicBezTo>
                    <a:pt x="4971923" y="0"/>
                    <a:pt x="5006848" y="34925"/>
                    <a:pt x="5006848" y="77978"/>
                  </a:cubicBezTo>
                  <a:lnTo>
                    <a:pt x="5006848" y="468122"/>
                  </a:lnTo>
                  <a:cubicBezTo>
                    <a:pt x="5006848" y="511175"/>
                    <a:pt x="4971923" y="546100"/>
                    <a:pt x="4928870" y="546100"/>
                  </a:cubicBezTo>
                  <a:lnTo>
                    <a:pt x="77978" y="546100"/>
                  </a:lnTo>
                  <a:cubicBezTo>
                    <a:pt x="34925" y="546227"/>
                    <a:pt x="0" y="511302"/>
                    <a:pt x="0" y="468122"/>
                  </a:cubicBezTo>
                  <a:close/>
                </a:path>
              </a:pathLst>
            </a:custGeom>
            <a:solidFill>
              <a:srgbClr val="131C0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5853" y="3413760"/>
            <a:ext cx="3511296" cy="409651"/>
            <a:chOff x="0" y="0"/>
            <a:chExt cx="4681728" cy="5462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81728" cy="546202"/>
            </a:xfrm>
            <a:custGeom>
              <a:avLst/>
              <a:gdLst/>
              <a:ahLst/>
              <a:cxnLst/>
              <a:rect r="r" b="b" t="t" l="l"/>
              <a:pathLst>
                <a:path h="54620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46202"/>
                  </a:lnTo>
                  <a:lnTo>
                    <a:pt x="0" y="546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681728" cy="555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CBAA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=IMPORTHTML(tradegate_url,"table",3)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67564" y="1212428"/>
            <a:ext cx="4207593" cy="2695785"/>
            <a:chOff x="0" y="0"/>
            <a:chExt cx="5610123" cy="35943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10098" cy="3594354"/>
            </a:xfrm>
            <a:custGeom>
              <a:avLst/>
              <a:gdLst/>
              <a:ahLst/>
              <a:cxnLst/>
              <a:rect r="r" b="b" t="t" l="l"/>
              <a:pathLst>
                <a:path h="3594354" w="5610098">
                  <a:moveTo>
                    <a:pt x="0" y="156845"/>
                  </a:moveTo>
                  <a:cubicBezTo>
                    <a:pt x="0" y="70231"/>
                    <a:pt x="70231" y="0"/>
                    <a:pt x="156845" y="0"/>
                  </a:cubicBezTo>
                  <a:lnTo>
                    <a:pt x="5453253" y="0"/>
                  </a:lnTo>
                  <a:cubicBezTo>
                    <a:pt x="5539867" y="0"/>
                    <a:pt x="5610098" y="70231"/>
                    <a:pt x="5610098" y="156845"/>
                  </a:cubicBezTo>
                  <a:lnTo>
                    <a:pt x="5610098" y="3437509"/>
                  </a:lnTo>
                  <a:cubicBezTo>
                    <a:pt x="5610098" y="3524123"/>
                    <a:pt x="5539867" y="3594354"/>
                    <a:pt x="5453253" y="3594354"/>
                  </a:cubicBezTo>
                  <a:lnTo>
                    <a:pt x="156845" y="3594354"/>
                  </a:lnTo>
                  <a:cubicBezTo>
                    <a:pt x="70231" y="3594354"/>
                    <a:pt x="0" y="3524123"/>
                    <a:pt x="0" y="3437509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232397" y="1428493"/>
            <a:ext cx="751837" cy="751837"/>
            <a:chOff x="0" y="0"/>
            <a:chExt cx="1002449" cy="10024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2411" cy="1002411"/>
            </a:xfrm>
            <a:custGeom>
              <a:avLst/>
              <a:gdLst/>
              <a:ahLst/>
              <a:cxnLst/>
              <a:rect r="r" b="b" t="t" l="l"/>
              <a:pathLst>
                <a:path h="1002411" w="1002411">
                  <a:moveTo>
                    <a:pt x="0" y="501269"/>
                  </a:moveTo>
                  <a:cubicBezTo>
                    <a:pt x="0" y="224409"/>
                    <a:pt x="224409" y="0"/>
                    <a:pt x="501269" y="0"/>
                  </a:cubicBezTo>
                  <a:cubicBezTo>
                    <a:pt x="778129" y="0"/>
                    <a:pt x="1002411" y="224409"/>
                    <a:pt x="1002411" y="501269"/>
                  </a:cubicBezTo>
                  <a:cubicBezTo>
                    <a:pt x="1002411" y="778129"/>
                    <a:pt x="778002" y="1002411"/>
                    <a:pt x="501269" y="1002411"/>
                  </a:cubicBezTo>
                  <a:cubicBezTo>
                    <a:pt x="224536" y="1002411"/>
                    <a:pt x="0" y="778002"/>
                    <a:pt x="0" y="501269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344973" y="1541069"/>
            <a:ext cx="526694" cy="526694"/>
            <a:chOff x="0" y="0"/>
            <a:chExt cx="702259" cy="702259"/>
          </a:xfrm>
        </p:grpSpPr>
        <p:sp>
          <p:nvSpPr>
            <p:cNvPr name="Freeform 31" id="31" descr="/tmp/claude-0/-home-claude/17adb65a-2095-52b1-b277-2d40dd9b0baa/scratchpad/deck/assets/icon-bitcoin-gold.png"/>
            <p:cNvSpPr/>
            <p:nvPr/>
          </p:nvSpPr>
          <p:spPr>
            <a:xfrm flipH="false" flipV="false" rot="0">
              <a:off x="0" y="0"/>
              <a:ext cx="702310" cy="702310"/>
            </a:xfrm>
            <a:custGeom>
              <a:avLst/>
              <a:gdLst/>
              <a:ahLst/>
              <a:cxnLst/>
              <a:rect r="r" b="b" t="t" l="l"/>
              <a:pathLst>
                <a:path h="702310" w="702310">
                  <a:moveTo>
                    <a:pt x="0" y="0"/>
                  </a:moveTo>
                  <a:lnTo>
                    <a:pt x="702310" y="0"/>
                  </a:lnTo>
                  <a:lnTo>
                    <a:pt x="702310" y="702310"/>
                  </a:lnTo>
                  <a:lnTo>
                    <a:pt x="0" y="702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7" b="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096000" y="1511808"/>
            <a:ext cx="2926080" cy="487680"/>
            <a:chOff x="0" y="0"/>
            <a:chExt cx="3901440" cy="65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01440" cy="650240"/>
            </a:xfrm>
            <a:custGeom>
              <a:avLst/>
              <a:gdLst/>
              <a:ahLst/>
              <a:cxnLst/>
              <a:rect r="r" b="b" t="t" l="l"/>
              <a:pathLst>
                <a:path h="650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901440" cy="66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Bitcoin — GOOGLEFINANCE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18176" y="2243328"/>
            <a:ext cx="3755136" cy="1121664"/>
            <a:chOff x="0" y="0"/>
            <a:chExt cx="5006848" cy="14955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06848" cy="1495552"/>
            </a:xfrm>
            <a:custGeom>
              <a:avLst/>
              <a:gdLst/>
              <a:ahLst/>
              <a:cxnLst/>
              <a:rect r="r" b="b" t="t" l="l"/>
              <a:pathLst>
                <a:path h="1495552" w="5006848">
                  <a:moveTo>
                    <a:pt x="0" y="0"/>
                  </a:moveTo>
                  <a:lnTo>
                    <a:pt x="5006848" y="0"/>
                  </a:lnTo>
                  <a:lnTo>
                    <a:pt x="5006848" y="1495552"/>
                  </a:lnTo>
                  <a:lnTo>
                    <a:pt x="0" y="1495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2" r="0" b="-1523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06848" cy="1533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26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One native Sheets function, no scraping required. GOOGLEFINANCE returns Bitcoin's live EUR price directly, refreshed automatically like any other cell.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218176" y="3413760"/>
            <a:ext cx="3755136" cy="409651"/>
            <a:chOff x="0" y="0"/>
            <a:chExt cx="5006848" cy="5462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06848" cy="546100"/>
            </a:xfrm>
            <a:custGeom>
              <a:avLst/>
              <a:gdLst/>
              <a:ahLst/>
              <a:cxnLst/>
              <a:rect r="r" b="b" t="t" l="l"/>
              <a:pathLst>
                <a:path h="546100" w="5006848">
                  <a:moveTo>
                    <a:pt x="0" y="77978"/>
                  </a:moveTo>
                  <a:cubicBezTo>
                    <a:pt x="0" y="34925"/>
                    <a:pt x="34925" y="0"/>
                    <a:pt x="77978" y="0"/>
                  </a:cubicBezTo>
                  <a:lnTo>
                    <a:pt x="4928870" y="0"/>
                  </a:lnTo>
                  <a:cubicBezTo>
                    <a:pt x="4971923" y="0"/>
                    <a:pt x="5006848" y="34925"/>
                    <a:pt x="5006848" y="77978"/>
                  </a:cubicBezTo>
                  <a:lnTo>
                    <a:pt x="5006848" y="468122"/>
                  </a:lnTo>
                  <a:cubicBezTo>
                    <a:pt x="5006848" y="511175"/>
                    <a:pt x="4971923" y="546100"/>
                    <a:pt x="4928870" y="546100"/>
                  </a:cubicBezTo>
                  <a:lnTo>
                    <a:pt x="77978" y="546100"/>
                  </a:lnTo>
                  <a:cubicBezTo>
                    <a:pt x="34925" y="546227"/>
                    <a:pt x="0" y="511302"/>
                    <a:pt x="0" y="468122"/>
                  </a:cubicBezTo>
                  <a:close/>
                </a:path>
              </a:pathLst>
            </a:custGeom>
            <a:solidFill>
              <a:srgbClr val="131C0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344973" y="3413760"/>
            <a:ext cx="3511296" cy="409651"/>
            <a:chOff x="0" y="0"/>
            <a:chExt cx="4681728" cy="54620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81728" cy="546202"/>
            </a:xfrm>
            <a:custGeom>
              <a:avLst/>
              <a:gdLst/>
              <a:ahLst/>
              <a:cxnLst/>
              <a:rect r="r" b="b" t="t" l="l"/>
              <a:pathLst>
                <a:path h="546202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46202"/>
                  </a:lnTo>
                  <a:lnTo>
                    <a:pt x="0" y="546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681728" cy="555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3">
                  <a:solidFill>
                    <a:srgbClr val="CBAA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=GOOGLEFINANCE("BTC-EUR")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78444" y="4138508"/>
            <a:ext cx="8596713" cy="1817961"/>
            <a:chOff x="0" y="0"/>
            <a:chExt cx="11462283" cy="24239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462258" cy="2423922"/>
            </a:xfrm>
            <a:custGeom>
              <a:avLst/>
              <a:gdLst/>
              <a:ahLst/>
              <a:cxnLst/>
              <a:rect r="r" b="b" t="t" l="l"/>
              <a:pathLst>
                <a:path h="2423922" w="11462258">
                  <a:moveTo>
                    <a:pt x="0" y="157226"/>
                  </a:moveTo>
                  <a:cubicBezTo>
                    <a:pt x="0" y="70358"/>
                    <a:pt x="70358" y="0"/>
                    <a:pt x="157226" y="0"/>
                  </a:cubicBezTo>
                  <a:lnTo>
                    <a:pt x="11305032" y="0"/>
                  </a:lnTo>
                  <a:cubicBezTo>
                    <a:pt x="11391900" y="0"/>
                    <a:pt x="11462258" y="70358"/>
                    <a:pt x="11462258" y="157226"/>
                  </a:cubicBezTo>
                  <a:lnTo>
                    <a:pt x="11462258" y="2266696"/>
                  </a:lnTo>
                  <a:cubicBezTo>
                    <a:pt x="11462258" y="2353564"/>
                    <a:pt x="11391900" y="2423922"/>
                    <a:pt x="11305032" y="2423922"/>
                  </a:cubicBezTo>
                  <a:lnTo>
                    <a:pt x="157226" y="2423922"/>
                  </a:lnTo>
                  <a:cubicBezTo>
                    <a:pt x="70358" y="2423922"/>
                    <a:pt x="0" y="2353564"/>
                    <a:pt x="0" y="2266696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40813" y="4598413"/>
            <a:ext cx="849373" cy="849373"/>
            <a:chOff x="0" y="0"/>
            <a:chExt cx="1132497" cy="11324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32459" cy="1132459"/>
            </a:xfrm>
            <a:custGeom>
              <a:avLst/>
              <a:gdLst/>
              <a:ahLst/>
              <a:cxnLst/>
              <a:rect r="r" b="b" t="t" l="l"/>
              <a:pathLst>
                <a:path h="1132459" w="1132459">
                  <a:moveTo>
                    <a:pt x="0" y="566293"/>
                  </a:moveTo>
                  <a:cubicBezTo>
                    <a:pt x="0" y="253492"/>
                    <a:pt x="253492" y="0"/>
                    <a:pt x="566293" y="0"/>
                  </a:cubicBezTo>
                  <a:cubicBezTo>
                    <a:pt x="879094" y="0"/>
                    <a:pt x="1132459" y="253492"/>
                    <a:pt x="1132459" y="566293"/>
                  </a:cubicBezTo>
                  <a:cubicBezTo>
                    <a:pt x="1132459" y="879094"/>
                    <a:pt x="878967" y="1132459"/>
                    <a:pt x="566293" y="1132459"/>
                  </a:cubicBezTo>
                  <a:cubicBezTo>
                    <a:pt x="253619" y="1132459"/>
                    <a:pt x="0" y="878967"/>
                    <a:pt x="0" y="566293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8FB7F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67048" y="4724648"/>
            <a:ext cx="596922" cy="596922"/>
            <a:chOff x="0" y="0"/>
            <a:chExt cx="795896" cy="795896"/>
          </a:xfrm>
        </p:grpSpPr>
        <p:sp>
          <p:nvSpPr>
            <p:cNvPr name="Freeform 48" id="48" descr="/tmp/claude-0/-home-claude/17adb65a-2095-52b1-b277-2d40dd9b0baa/scratchpad/deck/assets/icon-shield-blue.png"/>
            <p:cNvSpPr/>
            <p:nvPr/>
          </p:nvSpPr>
          <p:spPr>
            <a:xfrm flipH="false" flipV="false" rot="0">
              <a:off x="0" y="0"/>
              <a:ext cx="795909" cy="795909"/>
            </a:xfrm>
            <a:custGeom>
              <a:avLst/>
              <a:gdLst/>
              <a:ahLst/>
              <a:cxnLst/>
              <a:rect r="r" b="b" t="t" l="l"/>
              <a:pathLst>
                <a:path h="795909" w="795909">
                  <a:moveTo>
                    <a:pt x="0" y="0"/>
                  </a:moveTo>
                  <a:lnTo>
                    <a:pt x="795909" y="0"/>
                  </a:lnTo>
                  <a:lnTo>
                    <a:pt x="795909" y="795909"/>
                  </a:lnTo>
                  <a:lnTo>
                    <a:pt x="0" y="79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999488" y="4437888"/>
            <a:ext cx="6339840" cy="438912"/>
            <a:chOff x="0" y="0"/>
            <a:chExt cx="845312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53120" cy="585216"/>
            </a:xfrm>
            <a:custGeom>
              <a:avLst/>
              <a:gdLst/>
              <a:ahLst/>
              <a:cxnLst/>
              <a:rect r="r" b="b" t="t" l="l"/>
              <a:pathLst>
                <a:path h="585216" w="8453120">
                  <a:moveTo>
                    <a:pt x="0" y="0"/>
                  </a:moveTo>
                  <a:lnTo>
                    <a:pt x="8453120" y="0"/>
                  </a:lnTo>
                  <a:lnTo>
                    <a:pt x="8453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4531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IFERROR — the safety net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999488" y="4876800"/>
            <a:ext cx="6876288" cy="926592"/>
            <a:chOff x="0" y="0"/>
            <a:chExt cx="9168384" cy="12354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68384" cy="1235456"/>
            </a:xfrm>
            <a:custGeom>
              <a:avLst/>
              <a:gdLst/>
              <a:ahLst/>
              <a:cxnLst/>
              <a:rect r="r" b="b" t="t" l="l"/>
              <a:pathLst>
                <a:path h="1235456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235456"/>
                  </a:lnTo>
                  <a:lnTo>
                    <a:pt x="0" y="1235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99" r="0" b="-9459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168384" cy="1283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3"/>
                </a:lnSpc>
              </a:pPr>
              <a:r>
                <a:rPr lang="en-US" sz="1280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Every live-price formula is wrapped in IFERROR. If Tradegate is slow to load or the page structure changes, the sheet falls back to the last known price instead of breaking — the rest of the workbook keeps calculating.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5216" y="438912"/>
            <a:ext cx="8583168" cy="587990"/>
            <a:chOff x="0" y="0"/>
            <a:chExt cx="11444224" cy="783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4224" cy="783987"/>
            </a:xfrm>
            <a:custGeom>
              <a:avLst/>
              <a:gdLst/>
              <a:ahLst/>
              <a:cxnLst/>
              <a:rect r="r" b="b" t="t" l="l"/>
              <a:pathLst>
                <a:path h="783987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83987"/>
                  </a:lnTo>
                  <a:lnTo>
                    <a:pt x="0" y="783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668" r="0" b="-23419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444224" cy="793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Tab 2 — Contributions &amp; growth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8444" y="1212428"/>
            <a:ext cx="2773813" cy="1135209"/>
            <a:chOff x="0" y="0"/>
            <a:chExt cx="3698418" cy="15136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98494" cy="1513713"/>
            </a:xfrm>
            <a:custGeom>
              <a:avLst/>
              <a:gdLst/>
              <a:ahLst/>
              <a:cxnLst/>
              <a:rect r="r" b="b" t="t" l="l"/>
              <a:pathLst>
                <a:path h="1513713" w="3698494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3540506" y="0"/>
                  </a:lnTo>
                  <a:cubicBezTo>
                    <a:pt x="3627755" y="0"/>
                    <a:pt x="3698494" y="70739"/>
                    <a:pt x="3698494" y="157988"/>
                  </a:cubicBezTo>
                  <a:lnTo>
                    <a:pt x="3698494" y="1355725"/>
                  </a:lnTo>
                  <a:cubicBezTo>
                    <a:pt x="3698494" y="1442974"/>
                    <a:pt x="3627755" y="1513713"/>
                    <a:pt x="3540506" y="1513713"/>
                  </a:cubicBezTo>
                  <a:lnTo>
                    <a:pt x="157988" y="1513713"/>
                  </a:lnTo>
                  <a:cubicBezTo>
                    <a:pt x="70739" y="1513586"/>
                    <a:pt x="0" y="1442847"/>
                    <a:pt x="0" y="1355725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336243"/>
            <a:ext cx="2467661" cy="650565"/>
            <a:chOff x="0" y="0"/>
            <a:chExt cx="3290214" cy="8674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90214" cy="867418"/>
            </a:xfrm>
            <a:custGeom>
              <a:avLst/>
              <a:gdLst/>
              <a:ahLst/>
              <a:cxnLst/>
              <a:rect r="r" b="b" t="t" l="l"/>
              <a:pathLst>
                <a:path h="867418" w="3290214">
                  <a:moveTo>
                    <a:pt x="0" y="0"/>
                  </a:moveTo>
                  <a:lnTo>
                    <a:pt x="3290214" y="0"/>
                  </a:lnTo>
                  <a:lnTo>
                    <a:pt x="3290214" y="867418"/>
                  </a:lnTo>
                  <a:lnTo>
                    <a:pt x="0" y="867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08" r="0" b="-239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290214" cy="8864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16"/>
                </a:lnSpc>
              </a:pPr>
              <a:r>
                <a:rPr lang="en-US" sz="2346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€268.48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1520" y="1895580"/>
            <a:ext cx="2467661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total contributed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485017" y="1212428"/>
            <a:ext cx="2773813" cy="1135209"/>
            <a:chOff x="0" y="0"/>
            <a:chExt cx="3698418" cy="15136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98494" cy="1513713"/>
            </a:xfrm>
            <a:custGeom>
              <a:avLst/>
              <a:gdLst/>
              <a:ahLst/>
              <a:cxnLst/>
              <a:rect r="r" b="b" t="t" l="l"/>
              <a:pathLst>
                <a:path h="1513713" w="3698494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3540506" y="0"/>
                  </a:lnTo>
                  <a:cubicBezTo>
                    <a:pt x="3627755" y="0"/>
                    <a:pt x="3698494" y="70739"/>
                    <a:pt x="3698494" y="157988"/>
                  </a:cubicBezTo>
                  <a:lnTo>
                    <a:pt x="3698494" y="1355725"/>
                  </a:lnTo>
                  <a:cubicBezTo>
                    <a:pt x="3698494" y="1442974"/>
                    <a:pt x="3627755" y="1513713"/>
                    <a:pt x="3540506" y="1513713"/>
                  </a:cubicBezTo>
                  <a:lnTo>
                    <a:pt x="157988" y="1513713"/>
                  </a:lnTo>
                  <a:cubicBezTo>
                    <a:pt x="70739" y="1513586"/>
                    <a:pt x="0" y="1442847"/>
                    <a:pt x="0" y="1355725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638093" y="1336243"/>
            <a:ext cx="2467661" cy="650565"/>
            <a:chOff x="0" y="0"/>
            <a:chExt cx="3290214" cy="8674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0214" cy="867418"/>
            </a:xfrm>
            <a:custGeom>
              <a:avLst/>
              <a:gdLst/>
              <a:ahLst/>
              <a:cxnLst/>
              <a:rect r="r" b="b" t="t" l="l"/>
              <a:pathLst>
                <a:path h="867418" w="3290214">
                  <a:moveTo>
                    <a:pt x="0" y="0"/>
                  </a:moveTo>
                  <a:lnTo>
                    <a:pt x="3290214" y="0"/>
                  </a:lnTo>
                  <a:lnTo>
                    <a:pt x="3290214" y="867418"/>
                  </a:lnTo>
                  <a:lnTo>
                    <a:pt x="0" y="867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08" r="0" b="-239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290214" cy="8864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16"/>
                </a:lnSpc>
              </a:pPr>
              <a:r>
                <a:rPr lang="en-US" sz="2346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€344.35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638093" y="1895580"/>
            <a:ext cx="2467661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current value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91589" y="1212428"/>
            <a:ext cx="2773813" cy="1135209"/>
            <a:chOff x="0" y="0"/>
            <a:chExt cx="3698418" cy="15136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98494" cy="1513713"/>
            </a:xfrm>
            <a:custGeom>
              <a:avLst/>
              <a:gdLst/>
              <a:ahLst/>
              <a:cxnLst/>
              <a:rect r="r" b="b" t="t" l="l"/>
              <a:pathLst>
                <a:path h="1513713" w="3698494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3540506" y="0"/>
                  </a:lnTo>
                  <a:cubicBezTo>
                    <a:pt x="3627755" y="0"/>
                    <a:pt x="3698494" y="70739"/>
                    <a:pt x="3698494" y="157988"/>
                  </a:cubicBezTo>
                  <a:lnTo>
                    <a:pt x="3698494" y="1355725"/>
                  </a:lnTo>
                  <a:cubicBezTo>
                    <a:pt x="3698494" y="1442974"/>
                    <a:pt x="3627755" y="1513713"/>
                    <a:pt x="3540506" y="1513713"/>
                  </a:cubicBezTo>
                  <a:lnTo>
                    <a:pt x="157988" y="1513713"/>
                  </a:lnTo>
                  <a:cubicBezTo>
                    <a:pt x="70739" y="1513586"/>
                    <a:pt x="0" y="1442847"/>
                    <a:pt x="0" y="1355725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44666" y="1336243"/>
            <a:ext cx="2467661" cy="650565"/>
            <a:chOff x="0" y="0"/>
            <a:chExt cx="3290214" cy="8674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0214" cy="867418"/>
            </a:xfrm>
            <a:custGeom>
              <a:avLst/>
              <a:gdLst/>
              <a:ahLst/>
              <a:cxnLst/>
              <a:rect r="r" b="b" t="t" l="l"/>
              <a:pathLst>
                <a:path h="867418" w="3290214">
                  <a:moveTo>
                    <a:pt x="0" y="0"/>
                  </a:moveTo>
                  <a:lnTo>
                    <a:pt x="3290214" y="0"/>
                  </a:lnTo>
                  <a:lnTo>
                    <a:pt x="3290214" y="867418"/>
                  </a:lnTo>
                  <a:lnTo>
                    <a:pt x="0" y="8674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08" r="0" b="-239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290214" cy="8864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816"/>
                </a:lnSpc>
              </a:pPr>
              <a:r>
                <a:rPr lang="en-US" sz="2346" b="true">
                  <a:solidFill>
                    <a:srgbClr val="CBAA5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+28.3%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544666" y="1895580"/>
            <a:ext cx="2467661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"/>
              </a:lnSpc>
            </a:pPr>
            <a:r>
              <a:rPr lang="en-US" sz="1173">
                <a:solidFill>
                  <a:srgbClr val="A3B08F"/>
                </a:solidFill>
                <a:latin typeface="Arimo"/>
                <a:ea typeface="Arimo"/>
                <a:cs typeface="Arimo"/>
                <a:sym typeface="Arimo"/>
              </a:rPr>
              <a:t>total growth (+€75.87)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78444" y="2626700"/>
            <a:ext cx="8596713" cy="3768681"/>
            <a:chOff x="0" y="0"/>
            <a:chExt cx="11462283" cy="50249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62258" cy="5024882"/>
            </a:xfrm>
            <a:custGeom>
              <a:avLst/>
              <a:gdLst/>
              <a:ahLst/>
              <a:cxnLst/>
              <a:rect r="r" b="b" t="t" l="l"/>
              <a:pathLst>
                <a:path h="5024882" w="11462258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11305667" y="0"/>
                  </a:lnTo>
                  <a:cubicBezTo>
                    <a:pt x="11392154" y="0"/>
                    <a:pt x="11462258" y="70104"/>
                    <a:pt x="11462258" y="156591"/>
                  </a:cubicBezTo>
                  <a:lnTo>
                    <a:pt x="11462258" y="4868291"/>
                  </a:lnTo>
                  <a:cubicBezTo>
                    <a:pt x="11462258" y="4954778"/>
                    <a:pt x="11392154" y="5024882"/>
                    <a:pt x="11305667" y="5024882"/>
                  </a:cubicBezTo>
                  <a:lnTo>
                    <a:pt x="156591" y="5024882"/>
                  </a:lnTo>
                  <a:cubicBezTo>
                    <a:pt x="70104" y="5024882"/>
                    <a:pt x="0" y="4954778"/>
                    <a:pt x="0" y="4868291"/>
                  </a:cubicBezTo>
                  <a:close/>
                </a:path>
              </a:pathLst>
            </a:custGeom>
            <a:solidFill>
              <a:srgbClr val="2B3F10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80288" y="2779776"/>
            <a:ext cx="8193024" cy="341376"/>
            <a:chOff x="0" y="0"/>
            <a:chExt cx="10924032" cy="4551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24032" cy="455168"/>
            </a:xfrm>
            <a:custGeom>
              <a:avLst/>
              <a:gdLst/>
              <a:ahLst/>
              <a:cxnLst/>
              <a:rect r="r" b="b" t="t" l="l"/>
              <a:pathLst>
                <a:path h="45516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924032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A3B0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Growth by holding since first contribution</a:t>
              </a:r>
            </a:p>
          </p:txBody>
        </p:sp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8029" y="2360371"/>
            <a:ext cx="9714586" cy="4691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5216" y="487680"/>
            <a:ext cx="8583168" cy="587990"/>
            <a:chOff x="0" y="0"/>
            <a:chExt cx="11444224" cy="783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4224" cy="783987"/>
            </a:xfrm>
            <a:custGeom>
              <a:avLst/>
              <a:gdLst/>
              <a:ahLst/>
              <a:cxnLst/>
              <a:rect r="r" b="b" t="t" l="l"/>
              <a:pathLst>
                <a:path h="783987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83987"/>
                  </a:lnTo>
                  <a:lnTo>
                    <a:pt x="0" y="783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668" r="0" b="-23419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444224" cy="793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Contributions tab — as it looks live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5216" y="1092403"/>
            <a:ext cx="8583168" cy="341376"/>
            <a:chOff x="0" y="0"/>
            <a:chExt cx="11444224" cy="455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44224" cy="455168"/>
            </a:xfrm>
            <a:custGeom>
              <a:avLst/>
              <a:gdLst/>
              <a:ahLst/>
              <a:cxnLst/>
              <a:rect r="r" b="b" t="t" l="l"/>
              <a:pathLst>
                <a:path h="455168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444224" cy="474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0"/>
                </a:lnSpc>
              </a:pPr>
              <a:r>
                <a:rPr lang="en-US" sz="1333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Every contribution logged, rolled up, and compared automatically.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8444" y="1602572"/>
            <a:ext cx="8596713" cy="3213287"/>
            <a:chOff x="0" y="0"/>
            <a:chExt cx="11462283" cy="42843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62258" cy="4284345"/>
            </a:xfrm>
            <a:custGeom>
              <a:avLst/>
              <a:gdLst/>
              <a:ahLst/>
              <a:cxnLst/>
              <a:rect r="r" b="b" t="t" l="l"/>
              <a:pathLst>
                <a:path h="4284345" w="11462258">
                  <a:moveTo>
                    <a:pt x="0" y="130556"/>
                  </a:moveTo>
                  <a:cubicBezTo>
                    <a:pt x="0" y="58420"/>
                    <a:pt x="58420" y="0"/>
                    <a:pt x="130556" y="0"/>
                  </a:cubicBezTo>
                  <a:lnTo>
                    <a:pt x="11331702" y="0"/>
                  </a:lnTo>
                  <a:cubicBezTo>
                    <a:pt x="11403838" y="0"/>
                    <a:pt x="11462258" y="58420"/>
                    <a:pt x="11462258" y="130556"/>
                  </a:cubicBezTo>
                  <a:lnTo>
                    <a:pt x="11462258" y="4153789"/>
                  </a:lnTo>
                  <a:cubicBezTo>
                    <a:pt x="11462258" y="4225925"/>
                    <a:pt x="11403838" y="4284345"/>
                    <a:pt x="11331702" y="4284345"/>
                  </a:cubicBezTo>
                  <a:lnTo>
                    <a:pt x="130556" y="4284345"/>
                  </a:lnTo>
                  <a:cubicBezTo>
                    <a:pt x="58420" y="4284345"/>
                    <a:pt x="0" y="4225925"/>
                    <a:pt x="0" y="4153789"/>
                  </a:cubicBezTo>
                  <a:close/>
                </a:path>
              </a:pathLst>
            </a:custGeom>
            <a:solidFill>
              <a:srgbClr val="F7F8FC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sp>
        <p:nvSpPr>
          <p:cNvPr name="AutoShape 14" id="14"/>
          <p:cNvSpPr/>
          <p:nvPr/>
        </p:nvSpPr>
        <p:spPr>
          <a:xfrm rot="4080">
            <a:off x="580130" y="1936204"/>
            <a:ext cx="8593331" cy="0"/>
          </a:xfrm>
          <a:prstGeom prst="line">
            <a:avLst/>
          </a:prstGeom>
          <a:ln cap="rnd" w="9525">
            <a:solidFill>
              <a:srgbClr val="E1E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31520" y="1726387"/>
            <a:ext cx="97536" cy="97536"/>
            <a:chOff x="0" y="0"/>
            <a:chExt cx="130048" cy="1300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C7D3E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6099" y="1726387"/>
            <a:ext cx="97536" cy="97536"/>
            <a:chOff x="0" y="0"/>
            <a:chExt cx="130048" cy="1300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8FB7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0678" y="1726387"/>
            <a:ext cx="97536" cy="97536"/>
            <a:chOff x="0" y="0"/>
            <a:chExt cx="130048" cy="1300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D9A94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11808" y="1609344"/>
            <a:ext cx="7510272" cy="331622"/>
            <a:chOff x="0" y="0"/>
            <a:chExt cx="10013696" cy="4421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13696" cy="442163"/>
            </a:xfrm>
            <a:custGeom>
              <a:avLst/>
              <a:gdLst/>
              <a:ahLst/>
              <a:cxnLst/>
              <a:rect r="r" b="b" t="t" l="l"/>
              <a:pathLst>
                <a:path h="442163" w="10013696">
                  <a:moveTo>
                    <a:pt x="0" y="0"/>
                  </a:moveTo>
                  <a:lnTo>
                    <a:pt x="10013696" y="0"/>
                  </a:lnTo>
                  <a:lnTo>
                    <a:pt x="10013696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278" r="0" b="-391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013696" cy="451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79"/>
                </a:lnSpc>
              </a:pPr>
              <a:r>
                <a:rPr lang="en-US" sz="1066">
                  <a:solidFill>
                    <a:srgbClr val="6B7690"/>
                  </a:solidFill>
                  <a:latin typeface="Arimo"/>
                  <a:ea typeface="Arimo"/>
                  <a:cs typeface="Arimo"/>
                  <a:sym typeface="Arimo"/>
                </a:rPr>
                <a:t>Google Sheets · Contributions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02259" y="2058010"/>
            <a:ext cx="8349082" cy="2634024"/>
            <a:chOff x="0" y="0"/>
            <a:chExt cx="11132109" cy="3512033"/>
          </a:xfrm>
        </p:grpSpPr>
        <p:sp>
          <p:nvSpPr>
            <p:cNvPr name="Freeform 25" id="25" descr="/tmp/claude-0/-home-claude/17adb65a-2095-52b1-b277-2d40dd9b0baa/scratchpad/deck/assets/contributions_cropped.png"/>
            <p:cNvSpPr/>
            <p:nvPr/>
          </p:nvSpPr>
          <p:spPr>
            <a:xfrm flipH="false" flipV="false" rot="0">
              <a:off x="0" y="0"/>
              <a:ext cx="11132058" cy="3512058"/>
            </a:xfrm>
            <a:custGeom>
              <a:avLst/>
              <a:gdLst/>
              <a:ahLst/>
              <a:cxnLst/>
              <a:rect r="r" b="b" t="t" l="l"/>
              <a:pathLst>
                <a:path h="3512058" w="11132058">
                  <a:moveTo>
                    <a:pt x="0" y="0"/>
                  </a:moveTo>
                  <a:lnTo>
                    <a:pt x="11132058" y="0"/>
                  </a:lnTo>
                  <a:lnTo>
                    <a:pt x="11132058" y="3512058"/>
                  </a:lnTo>
                  <a:lnTo>
                    <a:pt x="0" y="3512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75468" y="4996825"/>
            <a:ext cx="4402665" cy="2131962"/>
            <a:chOff x="0" y="0"/>
            <a:chExt cx="5870219" cy="28426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70321" cy="2842641"/>
            </a:xfrm>
            <a:custGeom>
              <a:avLst/>
              <a:gdLst/>
              <a:ahLst/>
              <a:cxnLst/>
              <a:rect r="r" b="b" t="t" l="l"/>
              <a:pathLst>
                <a:path h="2842641" w="5870321">
                  <a:moveTo>
                    <a:pt x="0" y="130937"/>
                  </a:moveTo>
                  <a:cubicBezTo>
                    <a:pt x="0" y="58547"/>
                    <a:pt x="58547" y="0"/>
                    <a:pt x="130937" y="0"/>
                  </a:cubicBezTo>
                  <a:lnTo>
                    <a:pt x="5739384" y="0"/>
                  </a:lnTo>
                  <a:cubicBezTo>
                    <a:pt x="5811647" y="0"/>
                    <a:pt x="5870321" y="58547"/>
                    <a:pt x="5870321" y="130937"/>
                  </a:cubicBezTo>
                  <a:lnTo>
                    <a:pt x="5870321" y="2711704"/>
                  </a:lnTo>
                  <a:cubicBezTo>
                    <a:pt x="5870321" y="2783967"/>
                    <a:pt x="5811774" y="2842641"/>
                    <a:pt x="5739384" y="2842641"/>
                  </a:cubicBezTo>
                  <a:lnTo>
                    <a:pt x="130937" y="2842641"/>
                  </a:lnTo>
                  <a:cubicBezTo>
                    <a:pt x="58547" y="2842641"/>
                    <a:pt x="0" y="2783967"/>
                    <a:pt x="0" y="2711704"/>
                  </a:cubicBezTo>
                  <a:close/>
                </a:path>
              </a:pathLst>
            </a:custGeom>
            <a:solidFill>
              <a:srgbClr val="F7F8FC"/>
            </a:solidFill>
            <a:ln w="13547" cap="sq">
              <a:solidFill>
                <a:srgbClr val="2E3F6B"/>
              </a:solidFill>
              <a:prstDash val="solid"/>
              <a:miter/>
            </a:ln>
          </p:spPr>
        </p:sp>
      </p:grpSp>
      <p:sp>
        <p:nvSpPr>
          <p:cNvPr name="AutoShape 28" id="28"/>
          <p:cNvSpPr/>
          <p:nvPr/>
        </p:nvSpPr>
        <p:spPr>
          <a:xfrm rot="7920">
            <a:off x="2677154" y="5330457"/>
            <a:ext cx="4399293" cy="0"/>
          </a:xfrm>
          <a:prstGeom prst="line">
            <a:avLst/>
          </a:prstGeom>
          <a:ln cap="rnd" w="9525">
            <a:solidFill>
              <a:srgbClr val="E1E5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2828544" y="5120640"/>
            <a:ext cx="97536" cy="97536"/>
            <a:chOff x="0" y="0"/>
            <a:chExt cx="130048" cy="1300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C7D3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43123" y="5120640"/>
            <a:ext cx="97536" cy="97536"/>
            <a:chOff x="0" y="0"/>
            <a:chExt cx="130048" cy="1300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8FB7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257702" y="5120640"/>
            <a:ext cx="97536" cy="97536"/>
            <a:chOff x="0" y="0"/>
            <a:chExt cx="130048" cy="1300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0048" cy="130048"/>
            </a:xfrm>
            <a:custGeom>
              <a:avLst/>
              <a:gdLst/>
              <a:ahLst/>
              <a:cxnLst/>
              <a:rect r="r" b="b" t="t" l="l"/>
              <a:pathLst>
                <a:path h="130048" w="130048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cubicBezTo>
                    <a:pt x="100965" y="0"/>
                    <a:pt x="130048" y="29083"/>
                    <a:pt x="130048" y="65024"/>
                  </a:cubicBezTo>
                  <a:cubicBezTo>
                    <a:pt x="130048" y="100965"/>
                    <a:pt x="100965" y="130048"/>
                    <a:pt x="65024" y="130048"/>
                  </a:cubicBezTo>
                  <a:cubicBezTo>
                    <a:pt x="29083" y="130048"/>
                    <a:pt x="0" y="100965"/>
                    <a:pt x="0" y="65024"/>
                  </a:cubicBezTo>
                  <a:close/>
                </a:path>
              </a:pathLst>
            </a:custGeom>
            <a:solidFill>
              <a:srgbClr val="D9A94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608832" y="5003597"/>
            <a:ext cx="3316224" cy="331622"/>
            <a:chOff x="0" y="0"/>
            <a:chExt cx="4421632" cy="4421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21632" cy="442163"/>
            </a:xfrm>
            <a:custGeom>
              <a:avLst/>
              <a:gdLst/>
              <a:ahLst/>
              <a:cxnLst/>
              <a:rect r="r" b="b" t="t" l="l"/>
              <a:pathLst>
                <a:path h="442163" w="4421632">
                  <a:moveTo>
                    <a:pt x="0" y="0"/>
                  </a:moveTo>
                  <a:lnTo>
                    <a:pt x="4421632" y="0"/>
                  </a:lnTo>
                  <a:lnTo>
                    <a:pt x="4421632" y="442163"/>
                  </a:lnTo>
                  <a:lnTo>
                    <a:pt x="0" y="442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421632" cy="451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79"/>
                </a:lnSpc>
              </a:pPr>
              <a:r>
                <a:rPr lang="en-US" sz="1066">
                  <a:solidFill>
                    <a:srgbClr val="6B7690"/>
                  </a:solidFill>
                  <a:latin typeface="Arimo"/>
                  <a:ea typeface="Arimo"/>
                  <a:cs typeface="Arimo"/>
                  <a:sym typeface="Arimo"/>
                </a:rPr>
                <a:t>Chart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99283" y="5452262"/>
            <a:ext cx="4155034" cy="1552699"/>
            <a:chOff x="0" y="0"/>
            <a:chExt cx="5540045" cy="2070265"/>
          </a:xfrm>
        </p:grpSpPr>
        <p:sp>
          <p:nvSpPr>
            <p:cNvPr name="Freeform 39" id="39" descr="/tmp/claude-0/-home-claude/17adb65a-2095-52b1-b277-2d40dd9b0baa/scratchpad/deck/assets/shot_contrib_charts.png"/>
            <p:cNvSpPr/>
            <p:nvPr/>
          </p:nvSpPr>
          <p:spPr>
            <a:xfrm flipH="false" flipV="false" rot="0">
              <a:off x="0" y="0"/>
              <a:ext cx="5539994" cy="2070227"/>
            </a:xfrm>
            <a:custGeom>
              <a:avLst/>
              <a:gdLst/>
              <a:ahLst/>
              <a:cxnLst/>
              <a:rect r="r" b="b" t="t" l="l"/>
              <a:pathLst>
                <a:path h="2070227" w="5539994">
                  <a:moveTo>
                    <a:pt x="0" y="0"/>
                  </a:moveTo>
                  <a:lnTo>
                    <a:pt x="5539994" y="0"/>
                  </a:lnTo>
                  <a:lnTo>
                    <a:pt x="5539994" y="2070227"/>
                  </a:lnTo>
                  <a:lnTo>
                    <a:pt x="0" y="2070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t="0" r="-12" b="-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621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004800" cy="979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752" y="536448"/>
            <a:ext cx="8388096" cy="652264"/>
            <a:chOff x="0" y="0"/>
            <a:chExt cx="11184128" cy="869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84128" cy="869686"/>
            </a:xfrm>
            <a:custGeom>
              <a:avLst/>
              <a:gdLst/>
              <a:ahLst/>
              <a:cxnLst/>
              <a:rect r="r" b="b" t="t" l="l"/>
              <a:pathLst>
                <a:path h="869686" w="11184128">
                  <a:moveTo>
                    <a:pt x="0" y="0"/>
                  </a:moveTo>
                  <a:lnTo>
                    <a:pt x="11184128" y="0"/>
                  </a:lnTo>
                  <a:lnTo>
                    <a:pt x="11184128" y="869686"/>
                  </a:lnTo>
                  <a:lnTo>
                    <a:pt x="0" y="8696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978" r="0" b="-19917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184128" cy="898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takeaways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4509" y="1574797"/>
            <a:ext cx="849373" cy="849373"/>
            <a:chOff x="0" y="0"/>
            <a:chExt cx="1132497" cy="11324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2459" cy="1132459"/>
            </a:xfrm>
            <a:custGeom>
              <a:avLst/>
              <a:gdLst/>
              <a:ahLst/>
              <a:cxnLst/>
              <a:rect r="r" b="b" t="t" l="l"/>
              <a:pathLst>
                <a:path h="1132459" w="1132459">
                  <a:moveTo>
                    <a:pt x="0" y="566293"/>
                  </a:moveTo>
                  <a:cubicBezTo>
                    <a:pt x="0" y="253492"/>
                    <a:pt x="253492" y="0"/>
                    <a:pt x="566293" y="0"/>
                  </a:cubicBezTo>
                  <a:cubicBezTo>
                    <a:pt x="879094" y="0"/>
                    <a:pt x="1132459" y="253492"/>
                    <a:pt x="1132459" y="566293"/>
                  </a:cubicBezTo>
                  <a:cubicBezTo>
                    <a:pt x="1132459" y="879094"/>
                    <a:pt x="878967" y="1132459"/>
                    <a:pt x="566293" y="1132459"/>
                  </a:cubicBezTo>
                  <a:cubicBezTo>
                    <a:pt x="253619" y="1132459"/>
                    <a:pt x="0" y="878967"/>
                    <a:pt x="0" y="566293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20744" y="1701032"/>
            <a:ext cx="596922" cy="596922"/>
            <a:chOff x="0" y="0"/>
            <a:chExt cx="795896" cy="795896"/>
          </a:xfrm>
        </p:grpSpPr>
        <p:sp>
          <p:nvSpPr>
            <p:cNvPr name="Freeform 12" id="12" descr="/tmp/claude-0/-home-claude/17adb65a-2095-52b1-b277-2d40dd9b0baa/scratchpad/deck/assets/icon-target-gold.png"/>
            <p:cNvSpPr/>
            <p:nvPr/>
          </p:nvSpPr>
          <p:spPr>
            <a:xfrm flipH="false" flipV="false" rot="0">
              <a:off x="0" y="0"/>
              <a:ext cx="795909" cy="795909"/>
            </a:xfrm>
            <a:custGeom>
              <a:avLst/>
              <a:gdLst/>
              <a:ahLst/>
              <a:cxnLst/>
              <a:rect r="r" b="b" t="t" l="l"/>
              <a:pathLst>
                <a:path h="795909" w="795909">
                  <a:moveTo>
                    <a:pt x="0" y="0"/>
                  </a:moveTo>
                  <a:lnTo>
                    <a:pt x="795909" y="0"/>
                  </a:lnTo>
                  <a:lnTo>
                    <a:pt x="795909" y="795909"/>
                  </a:lnTo>
                  <a:lnTo>
                    <a:pt x="0" y="79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901952" y="1560576"/>
            <a:ext cx="6973824" cy="390144"/>
            <a:chOff x="0" y="0"/>
            <a:chExt cx="9298432" cy="5201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98432" cy="520192"/>
            </a:xfrm>
            <a:custGeom>
              <a:avLst/>
              <a:gdLst/>
              <a:ahLst/>
              <a:cxnLst/>
              <a:rect r="r" b="b" t="t" l="l"/>
              <a:pathLst>
                <a:path h="52019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295" r="0" b="-2982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298432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3"/>
                </a:lnSpc>
              </a:pPr>
              <a:r>
                <a:rPr lang="en-US" sz="1653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Overall +28.3% since inception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01952" y="1950720"/>
            <a:ext cx="6973824" cy="633984"/>
            <a:chOff x="0" y="0"/>
            <a:chExt cx="9298432" cy="8453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98432" cy="845312"/>
            </a:xfrm>
            <a:custGeom>
              <a:avLst/>
              <a:gdLst/>
              <a:ahLst/>
              <a:cxnLst/>
              <a:rect r="r" b="b" t="t" l="l"/>
              <a:pathLst>
                <a:path h="84531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298432" cy="88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80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From €268.48 contributed to €344.35 today (+€75.87), led by the ETF sleeve at +45.4% growth.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4140">
            <a:off x="677666" y="2696985"/>
            <a:ext cx="8398259" cy="0"/>
          </a:xfrm>
          <a:prstGeom prst="line">
            <a:avLst/>
          </a:prstGeom>
          <a:ln cap="rnd" w="9525">
            <a:solidFill>
              <a:srgbClr val="3E4A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794509" y="2862272"/>
            <a:ext cx="849373" cy="849373"/>
            <a:chOff x="0" y="0"/>
            <a:chExt cx="1132497" cy="11324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2459" cy="1132459"/>
            </a:xfrm>
            <a:custGeom>
              <a:avLst/>
              <a:gdLst/>
              <a:ahLst/>
              <a:cxnLst/>
              <a:rect r="r" b="b" t="t" l="l"/>
              <a:pathLst>
                <a:path h="1132459" w="1132459">
                  <a:moveTo>
                    <a:pt x="0" y="566293"/>
                  </a:moveTo>
                  <a:cubicBezTo>
                    <a:pt x="0" y="253492"/>
                    <a:pt x="253492" y="0"/>
                    <a:pt x="566293" y="0"/>
                  </a:cubicBezTo>
                  <a:cubicBezTo>
                    <a:pt x="879094" y="0"/>
                    <a:pt x="1132459" y="253492"/>
                    <a:pt x="1132459" y="566293"/>
                  </a:cubicBezTo>
                  <a:cubicBezTo>
                    <a:pt x="1132459" y="879094"/>
                    <a:pt x="878967" y="1132459"/>
                    <a:pt x="566293" y="1132459"/>
                  </a:cubicBezTo>
                  <a:cubicBezTo>
                    <a:pt x="253619" y="1132459"/>
                    <a:pt x="0" y="878967"/>
                    <a:pt x="0" y="566293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20744" y="2988507"/>
            <a:ext cx="596922" cy="596922"/>
            <a:chOff x="0" y="0"/>
            <a:chExt cx="795896" cy="795896"/>
          </a:xfrm>
        </p:grpSpPr>
        <p:sp>
          <p:nvSpPr>
            <p:cNvPr name="Freeform 23" id="23" descr="/tmp/claude-0/-home-claude/17adb65a-2095-52b1-b277-2d40dd9b0baa/scratchpad/deck/assets/icon-bitcoin-gold.png"/>
            <p:cNvSpPr/>
            <p:nvPr/>
          </p:nvSpPr>
          <p:spPr>
            <a:xfrm flipH="false" flipV="false" rot="0">
              <a:off x="0" y="0"/>
              <a:ext cx="795909" cy="795909"/>
            </a:xfrm>
            <a:custGeom>
              <a:avLst/>
              <a:gdLst/>
              <a:ahLst/>
              <a:cxnLst/>
              <a:rect r="r" b="b" t="t" l="l"/>
              <a:pathLst>
                <a:path h="795909" w="795909">
                  <a:moveTo>
                    <a:pt x="0" y="0"/>
                  </a:moveTo>
                  <a:lnTo>
                    <a:pt x="795909" y="0"/>
                  </a:lnTo>
                  <a:lnTo>
                    <a:pt x="795909" y="795909"/>
                  </a:lnTo>
                  <a:lnTo>
                    <a:pt x="0" y="79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01952" y="2848051"/>
            <a:ext cx="6973824" cy="390144"/>
            <a:chOff x="0" y="0"/>
            <a:chExt cx="9298432" cy="5201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98432" cy="520192"/>
            </a:xfrm>
            <a:custGeom>
              <a:avLst/>
              <a:gdLst/>
              <a:ahLst/>
              <a:cxnLst/>
              <a:rect r="r" b="b" t="t" l="l"/>
              <a:pathLst>
                <a:path h="52019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295" r="0" b="-2982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298432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3"/>
                </a:lnSpc>
              </a:pPr>
              <a:r>
                <a:rPr lang="en-US" sz="1653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Bitcoin is the biggest allocation gap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01952" y="3238195"/>
            <a:ext cx="6973824" cy="633984"/>
            <a:chOff x="0" y="0"/>
            <a:chExt cx="9298432" cy="8453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98432" cy="845312"/>
            </a:xfrm>
            <a:custGeom>
              <a:avLst/>
              <a:gdLst/>
              <a:ahLst/>
              <a:cxnLst/>
              <a:rect r="r" b="b" t="t" l="l"/>
              <a:pathLst>
                <a:path h="84531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298432" cy="88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80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17% of the portfolio vs. a 1% ideal allocation — and currently the only holding in the red, at -15.3%.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4140">
            <a:off x="677666" y="3984460"/>
            <a:ext cx="8398259" cy="0"/>
          </a:xfrm>
          <a:prstGeom prst="line">
            <a:avLst/>
          </a:prstGeom>
          <a:ln cap="rnd" w="9525">
            <a:solidFill>
              <a:srgbClr val="3E4A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794509" y="4149747"/>
            <a:ext cx="849373" cy="849373"/>
            <a:chOff x="0" y="0"/>
            <a:chExt cx="1132497" cy="11324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2459" cy="1132459"/>
            </a:xfrm>
            <a:custGeom>
              <a:avLst/>
              <a:gdLst/>
              <a:ahLst/>
              <a:cxnLst/>
              <a:rect r="r" b="b" t="t" l="l"/>
              <a:pathLst>
                <a:path h="1132459" w="1132459">
                  <a:moveTo>
                    <a:pt x="0" y="566293"/>
                  </a:moveTo>
                  <a:cubicBezTo>
                    <a:pt x="0" y="253492"/>
                    <a:pt x="253492" y="0"/>
                    <a:pt x="566293" y="0"/>
                  </a:cubicBezTo>
                  <a:cubicBezTo>
                    <a:pt x="879094" y="0"/>
                    <a:pt x="1132459" y="253492"/>
                    <a:pt x="1132459" y="566293"/>
                  </a:cubicBezTo>
                  <a:cubicBezTo>
                    <a:pt x="1132459" y="879094"/>
                    <a:pt x="878967" y="1132459"/>
                    <a:pt x="566293" y="1132459"/>
                  </a:cubicBezTo>
                  <a:cubicBezTo>
                    <a:pt x="253619" y="1132459"/>
                    <a:pt x="0" y="878967"/>
                    <a:pt x="0" y="566293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20744" y="4275982"/>
            <a:ext cx="596922" cy="596922"/>
            <a:chOff x="0" y="0"/>
            <a:chExt cx="795896" cy="795896"/>
          </a:xfrm>
        </p:grpSpPr>
        <p:sp>
          <p:nvSpPr>
            <p:cNvPr name="Freeform 34" id="34" descr="/tmp/claude-0/-home-claude/17adb65a-2095-52b1-b277-2d40dd9b0baa/scratchpad/deck/assets/icon-trending-gold.png"/>
            <p:cNvSpPr/>
            <p:nvPr/>
          </p:nvSpPr>
          <p:spPr>
            <a:xfrm flipH="false" flipV="false" rot="0">
              <a:off x="0" y="0"/>
              <a:ext cx="795909" cy="795909"/>
            </a:xfrm>
            <a:custGeom>
              <a:avLst/>
              <a:gdLst/>
              <a:ahLst/>
              <a:cxnLst/>
              <a:rect r="r" b="b" t="t" l="l"/>
              <a:pathLst>
                <a:path h="795909" w="795909">
                  <a:moveTo>
                    <a:pt x="0" y="0"/>
                  </a:moveTo>
                  <a:lnTo>
                    <a:pt x="795909" y="0"/>
                  </a:lnTo>
                  <a:lnTo>
                    <a:pt x="795909" y="795909"/>
                  </a:lnTo>
                  <a:lnTo>
                    <a:pt x="0" y="79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01952" y="4135526"/>
            <a:ext cx="6973824" cy="390144"/>
            <a:chOff x="0" y="0"/>
            <a:chExt cx="9298432" cy="5201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98432" cy="520192"/>
            </a:xfrm>
            <a:custGeom>
              <a:avLst/>
              <a:gdLst/>
              <a:ahLst/>
              <a:cxnLst/>
              <a:rect r="r" b="b" t="t" l="l"/>
              <a:pathLst>
                <a:path h="52019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295" r="0" b="-2982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298432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3"/>
                </a:lnSpc>
              </a:pPr>
              <a:r>
                <a:rPr lang="en-US" sz="1653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IS3S is the standout performer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01952" y="4525670"/>
            <a:ext cx="6973824" cy="633984"/>
            <a:chOff x="0" y="0"/>
            <a:chExt cx="9298432" cy="8453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98432" cy="845312"/>
            </a:xfrm>
            <a:custGeom>
              <a:avLst/>
              <a:gdLst/>
              <a:ahLst/>
              <a:cxnLst/>
              <a:rect r="r" b="b" t="t" l="l"/>
              <a:pathLst>
                <a:path h="84531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298432" cy="88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80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iShares MSCI World Value Factor UCITS ETF is up +88.5%, the strongest grower on the sheet.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4140">
            <a:off x="677666" y="5271935"/>
            <a:ext cx="8398259" cy="0"/>
          </a:xfrm>
          <a:prstGeom prst="line">
            <a:avLst/>
          </a:prstGeom>
          <a:ln cap="rnd" w="9525">
            <a:solidFill>
              <a:srgbClr val="3E4A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794509" y="5437222"/>
            <a:ext cx="849373" cy="849373"/>
            <a:chOff x="0" y="0"/>
            <a:chExt cx="1132497" cy="113249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2459" cy="1132459"/>
            </a:xfrm>
            <a:custGeom>
              <a:avLst/>
              <a:gdLst/>
              <a:ahLst/>
              <a:cxnLst/>
              <a:rect r="r" b="b" t="t" l="l"/>
              <a:pathLst>
                <a:path h="1132459" w="1132459">
                  <a:moveTo>
                    <a:pt x="0" y="566293"/>
                  </a:moveTo>
                  <a:cubicBezTo>
                    <a:pt x="0" y="253492"/>
                    <a:pt x="253492" y="0"/>
                    <a:pt x="566293" y="0"/>
                  </a:cubicBezTo>
                  <a:cubicBezTo>
                    <a:pt x="879094" y="0"/>
                    <a:pt x="1132459" y="253492"/>
                    <a:pt x="1132459" y="566293"/>
                  </a:cubicBezTo>
                  <a:cubicBezTo>
                    <a:pt x="1132459" y="879094"/>
                    <a:pt x="878967" y="1132459"/>
                    <a:pt x="566293" y="1132459"/>
                  </a:cubicBezTo>
                  <a:cubicBezTo>
                    <a:pt x="253619" y="1132459"/>
                    <a:pt x="0" y="878967"/>
                    <a:pt x="0" y="566293"/>
                  </a:cubicBezTo>
                  <a:close/>
                </a:path>
              </a:pathLst>
            </a:custGeom>
            <a:solidFill>
              <a:srgbClr val="436020"/>
            </a:solidFill>
            <a:ln w="20320" cap="sq">
              <a:solidFill>
                <a:srgbClr val="D9A94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0744" y="5563457"/>
            <a:ext cx="596922" cy="596922"/>
            <a:chOff x="0" y="0"/>
            <a:chExt cx="795896" cy="795896"/>
          </a:xfrm>
        </p:grpSpPr>
        <p:sp>
          <p:nvSpPr>
            <p:cNvPr name="Freeform 45" id="45" descr="/tmp/claude-0/-home-claude/17adb65a-2095-52b1-b277-2d40dd9b0baa/scratchpad/deck/assets/icon-check-gold.png"/>
            <p:cNvSpPr/>
            <p:nvPr/>
          </p:nvSpPr>
          <p:spPr>
            <a:xfrm flipH="false" flipV="false" rot="0">
              <a:off x="0" y="0"/>
              <a:ext cx="795909" cy="795909"/>
            </a:xfrm>
            <a:custGeom>
              <a:avLst/>
              <a:gdLst/>
              <a:ahLst/>
              <a:cxnLst/>
              <a:rect r="r" b="b" t="t" l="l"/>
              <a:pathLst>
                <a:path h="795909" w="795909">
                  <a:moveTo>
                    <a:pt x="0" y="0"/>
                  </a:moveTo>
                  <a:lnTo>
                    <a:pt x="795909" y="0"/>
                  </a:lnTo>
                  <a:lnTo>
                    <a:pt x="795909" y="795909"/>
                  </a:lnTo>
                  <a:lnTo>
                    <a:pt x="0" y="79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901952" y="5423002"/>
            <a:ext cx="6973824" cy="390144"/>
            <a:chOff x="0" y="0"/>
            <a:chExt cx="9298432" cy="5201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98432" cy="520192"/>
            </a:xfrm>
            <a:custGeom>
              <a:avLst/>
              <a:gdLst/>
              <a:ahLst/>
              <a:cxnLst/>
              <a:rect r="r" b="b" t="t" l="l"/>
              <a:pathLst>
                <a:path h="52019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295" r="0" b="-2982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9298432" cy="539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3"/>
                </a:lnSpc>
              </a:pPr>
              <a:r>
                <a:rPr lang="en-US" sz="1653" b="true">
                  <a:solidFill>
                    <a:srgbClr val="F4F9D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Zero manual maintenance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01952" y="5813146"/>
            <a:ext cx="6973824" cy="633984"/>
            <a:chOff x="0" y="0"/>
            <a:chExt cx="9298432" cy="8453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298432" cy="845312"/>
            </a:xfrm>
            <a:custGeom>
              <a:avLst/>
              <a:gdLst/>
              <a:ahLst/>
              <a:cxnLst/>
              <a:rect r="r" b="b" t="t" l="l"/>
              <a:pathLst>
                <a:path h="845312" w="9298432">
                  <a:moveTo>
                    <a:pt x="0" y="0"/>
                  </a:moveTo>
                  <a:lnTo>
                    <a:pt x="9298432" y="0"/>
                  </a:lnTo>
                  <a:lnTo>
                    <a:pt x="9298432" y="845312"/>
                  </a:lnTo>
                  <a:lnTo>
                    <a:pt x="0" y="8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298432" cy="88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6"/>
                </a:lnSpc>
              </a:pPr>
              <a:r>
                <a:rPr lang="en-US" sz="1280">
                  <a:solidFill>
                    <a:srgbClr val="A3B08F"/>
                  </a:solidFill>
                  <a:latin typeface="Arimo"/>
                  <a:ea typeface="Arimo"/>
                  <a:cs typeface="Arimo"/>
                  <a:sym typeface="Arimo"/>
                </a:rPr>
                <a:t>Live pricing, allocation math, and growth tracking all recalculate automatically, every time the sheet opens.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DAHVBRhFR1k</dc:identifier>
  <dcterms:modified xsi:type="dcterms:W3CDTF">2011-08-01T06:04:30Z</dcterms:modified>
  <cp:revision>1</cp:revision>
  <dc:title>Irish ETF &amp; Crypto Portfolio Tracker</dc:title>
</cp:coreProperties>
</file>